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cherus Grotesque" panose="020B0604020202020204" charset="0"/>
      <p:regular r:id="rId19"/>
    </p:embeddedFont>
    <p:embeddedFont>
      <p:font typeface="Acherus Grotesque Bold" panose="020B0604020202020204" charset="0"/>
      <p:regular r:id="rId20"/>
    </p:embeddedFont>
    <p:embeddedFont>
      <p:font typeface="Anonymous Pro" panose="020B0604020202020204" charset="0"/>
      <p:regular r:id="rId21"/>
    </p:embeddedFont>
    <p:embeddedFont>
      <p:font typeface="Arial Bold" panose="020B0704020202020204" pitchFamily="34" charset="0"/>
      <p:regular r:id="rId22"/>
      <p:bold r:id="rId23"/>
    </p:embeddedFont>
    <p:embeddedFont>
      <p:font typeface="AstoriaBold" panose="00000700000000000000" charset="2"/>
      <p:regular r:id="rId24"/>
    </p:embeddedFont>
    <p:embeddedFont>
      <p:font typeface="Clear Sans Bold" panose="020B0604020202020204" charset="0"/>
      <p:regular r:id="rId25"/>
    </p:embeddedFont>
    <p:embeddedFont>
      <p:font typeface="Code Pro" panose="020B0604020202020204" charset="0"/>
      <p:regular r:id="rId26"/>
    </p:embeddedFont>
    <p:embeddedFont>
      <p:font typeface="Helveticish" panose="020B0604020202020204" charset="0"/>
      <p:regular r:id="rId27"/>
    </p:embeddedFont>
    <p:embeddedFont>
      <p:font typeface="Montserrat Semi-Bold" panose="020B0604020202020204" charset="0"/>
      <p:regular r:id="rId28"/>
    </p:embeddedFont>
    <p:embeddedFont>
      <p:font typeface="Nunito Bold" panose="020B0604020202020204" charset="0"/>
      <p:regular r:id="rId29"/>
    </p:embeddedFont>
    <p:embeddedFont>
      <p:font typeface="Open Sauce SemiBold" panose="020B0604020202020204" charset="0"/>
      <p:regular r:id="rId30"/>
    </p:embeddedFont>
    <p:embeddedFont>
      <p:font typeface="Times New Roman Bold" panose="02020803070505020304" pitchFamily="18" charset="0"/>
      <p:regular r:id="rId31"/>
      <p:bold r:id="rId32"/>
    </p:embeddedFont>
    <p:embeddedFont>
      <p:font typeface="Times New Roman Ultra-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5" d="100"/>
          <a:sy n="55" d="100"/>
        </p:scale>
        <p:origin x="8" y="-9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72944-6D33-42A5-AD8A-DBCD83C992A3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11DE5-7A79-46DD-8373-2B9AC26B7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3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afternoon.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I’m Premakumara H.P.S., and my index number is 210494D.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summary of my 24-week industrial training, carried out under a road construction project managed by the 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80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was assigned to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Consulting Engineering &amp; Contractors (Pvt) Ltd.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on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Rehabilitation and Maintenance of Rural Roads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Homagama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Divisional Secretariat.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followed standards as ASTM,BS.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 of five contract packages, our company was awarded four, totaling around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LKR 1,700 million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funded by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 Bank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worked under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Mr. G. Thanushka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based at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Uduwana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site office and laboratory, as a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Trainee Material Engineer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93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team was led by the Managing director, General Manager, and Project Manager.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worked under the Material Engineer and interacted with other key roles like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QAM, Site Engineering, Surveyor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experience helped me understand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multi-disciplinary coordination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fulfilling Program Outcomes like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management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73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gained hands-on experience in:</a:t>
            </a:r>
            <a:endParaRPr lang="en-US" b="0" dirty="0">
              <a:effectLst/>
            </a:endParaRPr>
          </a:p>
          <a:p>
            <a:pPr rtl="0" fontAlgn="base"/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Soil &amp; Aggregate Testing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DCP, Proctor, CBR, PI, SA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Concrete Testing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Slump and cube strength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Bitumen &amp; Asphalt works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Tray, Marshall, and extraction tests 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tasks reflect POS like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knowledge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Applying materials science in practice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79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training period I participated in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pavement and mix design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borrow pit investigations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stockpile management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ABC, SB, EMB, and SHO materials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quality testing for sored materials.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activities developed my understanding of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processes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environmental considerations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testing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89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helped manage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 Progress Reports (DPR)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handled the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 for Inspection (RFI)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 for package 1 during my intern period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followed ISO 9001 standards for QA documentation.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also developed an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Excel-based RFI Manager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automated RFI documenting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0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this help to reduce document processing time and this is the tool interface.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learnings aligned to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coordination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Managerial practice enhancement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4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 DCP reporting was inefficient and error-prone.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I developed an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DCP report generator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based on Excel.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71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included input validation, report creation, and summary sheets—all in one tool.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tool improved accuracy and report creating efficiency, aligning with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Problem-solving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tools using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7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was a core focus throughout my training.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followed PPE protocols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testing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site activities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0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participated in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crack surveys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environmental monitoring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(CO₂, NO₂, weather),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9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 toolbox meetings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 this conducted by the site engineer or safety officer.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briefings covered the daily tasks, safety concerns, and environmental precautions.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actions supported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engineer and society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HSE practices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65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Throughout my training,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maintained professional ethics across all tasks assigned to me –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it was maintaining transparency in documentation, teamwork, and lab work.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new challenge pushed me to adapt and learn independently</a:t>
            </a:r>
            <a:endParaRPr lang="en-US" b="0" dirty="0">
              <a:effectLst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learnings aligned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lifelong learning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 practices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14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internship helped me achieve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majour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Outcomes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Learning Outcomes—from technical knowledge and tool usage to project management, ethics, and sustainability.</a:t>
            </a:r>
          </a:p>
          <a:p>
            <a:pPr rtl="0"/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74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I’m grateful to my site supervisors, the RDA and consultants, and the academic staff of the Department of Materials Science and Engineering for their support.</a:t>
            </a: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68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 for your attention.</a:t>
            </a: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11DE5-7A79-46DD-8373-2B9AC26B77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0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EFFFF">
                <a:alpha val="100000"/>
              </a:srgbClr>
            </a:gs>
            <a:gs pos="33333">
              <a:srgbClr val="FFFFFF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8D8D8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5714" y="2217103"/>
            <a:ext cx="5714665" cy="4948900"/>
            <a:chOff x="0" y="0"/>
            <a:chExt cx="6350000" cy="5499100"/>
          </a:xfrm>
        </p:grpSpPr>
        <p:sp>
          <p:nvSpPr>
            <p:cNvPr id="3" name="Freeform 3"/>
            <p:cNvSpPr/>
            <p:nvPr/>
          </p:nvSpPr>
          <p:spPr>
            <a:xfrm>
              <a:off x="60520" y="0"/>
              <a:ext cx="6228959" cy="5499100"/>
            </a:xfrm>
            <a:custGeom>
              <a:avLst/>
              <a:gdLst/>
              <a:ahLst/>
              <a:cxnLst/>
              <a:rect l="l" t="t" r="r" b="b"/>
              <a:pathLst>
                <a:path w="6228959" h="5499100">
                  <a:moveTo>
                    <a:pt x="4384461" y="0"/>
                  </a:moveTo>
                  <a:lnTo>
                    <a:pt x="1844499" y="0"/>
                  </a:lnTo>
                  <a:cubicBezTo>
                    <a:pt x="1648017" y="0"/>
                    <a:pt x="1466460" y="104820"/>
                    <a:pt x="1368217" y="274977"/>
                  </a:cubicBezTo>
                  <a:lnTo>
                    <a:pt x="98243" y="2474573"/>
                  </a:lnTo>
                  <a:cubicBezTo>
                    <a:pt x="0" y="2644729"/>
                    <a:pt x="0" y="2854371"/>
                    <a:pt x="98243" y="3024527"/>
                  </a:cubicBezTo>
                  <a:lnTo>
                    <a:pt x="1368217" y="5224123"/>
                  </a:lnTo>
                  <a:cubicBezTo>
                    <a:pt x="1466460" y="5394280"/>
                    <a:pt x="1648017" y="5499100"/>
                    <a:pt x="1844499" y="5499100"/>
                  </a:cubicBezTo>
                  <a:lnTo>
                    <a:pt x="4384461" y="5499100"/>
                  </a:lnTo>
                  <a:cubicBezTo>
                    <a:pt x="4580943" y="5499100"/>
                    <a:pt x="4762500" y="5394280"/>
                    <a:pt x="4860743" y="5224123"/>
                  </a:cubicBezTo>
                  <a:lnTo>
                    <a:pt x="6130717" y="3024527"/>
                  </a:lnTo>
                  <a:cubicBezTo>
                    <a:pt x="6228960" y="2854371"/>
                    <a:pt x="6228960" y="2644729"/>
                    <a:pt x="6130717" y="2474573"/>
                  </a:cubicBezTo>
                  <a:lnTo>
                    <a:pt x="4860743" y="274977"/>
                  </a:lnTo>
                  <a:cubicBezTo>
                    <a:pt x="4762500" y="104820"/>
                    <a:pt x="4580943" y="0"/>
                    <a:pt x="4384461" y="0"/>
                  </a:cubicBezTo>
                  <a:close/>
                </a:path>
              </a:pathLst>
            </a:custGeom>
            <a:blipFill>
              <a:blip r:embed="rId3"/>
              <a:stretch>
                <a:fillRect l="-56888" r="-56888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624287" y="2907495"/>
            <a:ext cx="6635013" cy="5745922"/>
            <a:chOff x="0" y="0"/>
            <a:chExt cx="6350000" cy="5499100"/>
          </a:xfrm>
        </p:grpSpPr>
        <p:sp>
          <p:nvSpPr>
            <p:cNvPr id="5" name="Freeform 5"/>
            <p:cNvSpPr/>
            <p:nvPr/>
          </p:nvSpPr>
          <p:spPr>
            <a:xfrm>
              <a:off x="52126" y="0"/>
              <a:ext cx="6245749" cy="5499100"/>
            </a:xfrm>
            <a:custGeom>
              <a:avLst/>
              <a:gdLst/>
              <a:ahLst/>
              <a:cxnLst/>
              <a:rect l="l" t="t" r="r" b="b"/>
              <a:pathLst>
                <a:path w="6245749" h="5499100">
                  <a:moveTo>
                    <a:pt x="4436899" y="0"/>
                  </a:moveTo>
                  <a:lnTo>
                    <a:pt x="1808849" y="0"/>
                  </a:lnTo>
                  <a:cubicBezTo>
                    <a:pt x="1639622" y="0"/>
                    <a:pt x="1483249" y="90281"/>
                    <a:pt x="1398633" y="236835"/>
                  </a:cubicBezTo>
                  <a:lnTo>
                    <a:pt x="84615" y="2512715"/>
                  </a:lnTo>
                  <a:cubicBezTo>
                    <a:pt x="0" y="2659268"/>
                    <a:pt x="0" y="2839832"/>
                    <a:pt x="84615" y="2986385"/>
                  </a:cubicBezTo>
                  <a:lnTo>
                    <a:pt x="1398633" y="5262265"/>
                  </a:lnTo>
                  <a:cubicBezTo>
                    <a:pt x="1483249" y="5408819"/>
                    <a:pt x="1639622" y="5499100"/>
                    <a:pt x="1808849" y="5499100"/>
                  </a:cubicBezTo>
                  <a:lnTo>
                    <a:pt x="4436899" y="5499100"/>
                  </a:lnTo>
                  <a:cubicBezTo>
                    <a:pt x="4606126" y="5499100"/>
                    <a:pt x="4762499" y="5408819"/>
                    <a:pt x="4847114" y="5262265"/>
                  </a:cubicBezTo>
                  <a:lnTo>
                    <a:pt x="6161134" y="2986385"/>
                  </a:lnTo>
                  <a:cubicBezTo>
                    <a:pt x="6245748" y="2839832"/>
                    <a:pt x="6245748" y="2659268"/>
                    <a:pt x="6161134" y="2512715"/>
                  </a:cubicBezTo>
                  <a:lnTo>
                    <a:pt x="4847114" y="236835"/>
                  </a:lnTo>
                  <a:cubicBezTo>
                    <a:pt x="4762499" y="90281"/>
                    <a:pt x="4606126" y="0"/>
                    <a:pt x="4436899" y="0"/>
                  </a:cubicBezTo>
                  <a:close/>
                </a:path>
              </a:pathLst>
            </a:custGeom>
            <a:blipFill>
              <a:blip r:embed="rId4"/>
              <a:stretch>
                <a:fillRect l="-56958" r="-56004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7551" y="4765576"/>
            <a:ext cx="4762560" cy="4124377"/>
            <a:chOff x="0" y="0"/>
            <a:chExt cx="6350000" cy="5499100"/>
          </a:xfrm>
        </p:grpSpPr>
        <p:sp>
          <p:nvSpPr>
            <p:cNvPr id="7" name="Freeform 7"/>
            <p:cNvSpPr/>
            <p:nvPr/>
          </p:nvSpPr>
          <p:spPr>
            <a:xfrm>
              <a:off x="72619" y="0"/>
              <a:ext cx="6204761" cy="5499100"/>
            </a:xfrm>
            <a:custGeom>
              <a:avLst/>
              <a:gdLst/>
              <a:ahLst/>
              <a:cxnLst/>
              <a:rect l="l" t="t" r="r" b="b"/>
              <a:pathLst>
                <a:path w="6204761" h="5499100">
                  <a:moveTo>
                    <a:pt x="4308886" y="0"/>
                  </a:moveTo>
                  <a:lnTo>
                    <a:pt x="1895876" y="0"/>
                  </a:lnTo>
                  <a:cubicBezTo>
                    <a:pt x="1660115" y="0"/>
                    <a:pt x="1442262" y="125775"/>
                    <a:pt x="1324379" y="329949"/>
                  </a:cubicBezTo>
                  <a:lnTo>
                    <a:pt x="117883" y="2419601"/>
                  </a:lnTo>
                  <a:cubicBezTo>
                    <a:pt x="0" y="2623773"/>
                    <a:pt x="0" y="2875327"/>
                    <a:pt x="117883" y="3079499"/>
                  </a:cubicBezTo>
                  <a:lnTo>
                    <a:pt x="1324379" y="5169151"/>
                  </a:lnTo>
                  <a:cubicBezTo>
                    <a:pt x="1442262" y="5373324"/>
                    <a:pt x="1660115" y="5499100"/>
                    <a:pt x="1895876" y="5499100"/>
                  </a:cubicBezTo>
                  <a:lnTo>
                    <a:pt x="4308886" y="5499100"/>
                  </a:lnTo>
                  <a:cubicBezTo>
                    <a:pt x="4544647" y="5499100"/>
                    <a:pt x="4762500" y="5373324"/>
                    <a:pt x="4880383" y="5169151"/>
                  </a:cubicBezTo>
                  <a:lnTo>
                    <a:pt x="6086879" y="3079499"/>
                  </a:lnTo>
                  <a:cubicBezTo>
                    <a:pt x="6204762" y="2875327"/>
                    <a:pt x="6204762" y="2623773"/>
                    <a:pt x="6086879" y="2419601"/>
                  </a:cubicBezTo>
                  <a:lnTo>
                    <a:pt x="4880383" y="329949"/>
                  </a:lnTo>
                  <a:cubicBezTo>
                    <a:pt x="4762500" y="125775"/>
                    <a:pt x="4544647" y="0"/>
                    <a:pt x="4308886" y="0"/>
                  </a:cubicBezTo>
                  <a:close/>
                </a:path>
              </a:pathLst>
            </a:custGeom>
            <a:blipFill>
              <a:blip r:embed="rId5"/>
              <a:stretch>
                <a:fillRect l="-41502" r="-1661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81075"/>
            <a:ext cx="16440005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spc="485">
                <a:solidFill>
                  <a:srgbClr val="CC0000"/>
                </a:solidFill>
                <a:latin typeface="AstoriaBold"/>
                <a:ea typeface="AstoriaBold"/>
                <a:cs typeface="AstoriaBold"/>
                <a:sym typeface="AstoriaBold"/>
              </a:rPr>
              <a:t>INDUSTRIAL TRAINING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905657"/>
            <a:ext cx="5654500" cy="135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3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PREMAKUMARA H.P.S.</a:t>
            </a:r>
          </a:p>
          <a:p>
            <a:pPr algn="l">
              <a:lnSpc>
                <a:spcPts val="5169"/>
              </a:lnSpc>
            </a:pPr>
            <a:r>
              <a:rPr lang="en-US" sz="3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210494D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6857016" y="9929654"/>
            <a:ext cx="1172123" cy="3139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4846421" y="9932792"/>
            <a:ext cx="9444785" cy="0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26695" y="9741340"/>
            <a:ext cx="4019726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0E0E"/>
                </a:solidFill>
                <a:latin typeface="Acherus Grotesque"/>
                <a:ea typeface="Acherus Grotesque"/>
                <a:cs typeface="Acherus Grotesque"/>
                <a:sym typeface="Acherus Grotesque"/>
              </a:rPr>
              <a:t>Industrial Training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91206" y="9741340"/>
            <a:ext cx="2565809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F0E0E"/>
                </a:solidFill>
                <a:latin typeface="Acherus Grotesque"/>
                <a:ea typeface="Acherus Grotesque"/>
                <a:cs typeface="Acherus Grotesque"/>
                <a:sym typeface="Acherus Grotesque"/>
              </a:rPr>
              <a:t>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0567" y="0"/>
            <a:ext cx="7967433" cy="10287000"/>
          </a:xfrm>
          <a:custGeom>
            <a:avLst/>
            <a:gdLst/>
            <a:ahLst/>
            <a:cxnLst/>
            <a:rect l="l" t="t" r="r" b="b"/>
            <a:pathLst>
              <a:path w="7967433" h="10287000">
                <a:moveTo>
                  <a:pt x="0" y="0"/>
                </a:moveTo>
                <a:lnTo>
                  <a:pt x="7967433" y="0"/>
                </a:lnTo>
                <a:lnTo>
                  <a:pt x="79674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423" r="-2220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2089540">
            <a:off x="10824745" y="-1860956"/>
            <a:ext cx="11591042" cy="12935274"/>
            <a:chOff x="0" y="0"/>
            <a:chExt cx="728334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8334" cy="812800"/>
            </a:xfrm>
            <a:custGeom>
              <a:avLst/>
              <a:gdLst/>
              <a:ahLst/>
              <a:cxnLst/>
              <a:rect l="l" t="t" r="r" b="b"/>
              <a:pathLst>
                <a:path w="728334" h="812800">
                  <a:moveTo>
                    <a:pt x="364167" y="0"/>
                  </a:moveTo>
                  <a:cubicBezTo>
                    <a:pt x="163043" y="0"/>
                    <a:pt x="0" y="181951"/>
                    <a:pt x="0" y="406400"/>
                  </a:cubicBezTo>
                  <a:cubicBezTo>
                    <a:pt x="0" y="630849"/>
                    <a:pt x="163043" y="812800"/>
                    <a:pt x="364167" y="812800"/>
                  </a:cubicBezTo>
                  <a:cubicBezTo>
                    <a:pt x="565291" y="812800"/>
                    <a:pt x="728334" y="630849"/>
                    <a:pt x="728334" y="406400"/>
                  </a:cubicBezTo>
                  <a:cubicBezTo>
                    <a:pt x="728334" y="181951"/>
                    <a:pt x="565291" y="0"/>
                    <a:pt x="3641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F6F6">
                    <a:alpha val="100000"/>
                  </a:srgbClr>
                </a:gs>
                <a:gs pos="25000">
                  <a:srgbClr val="FFFFFF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7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281" y="0"/>
              <a:ext cx="59177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0429938">
            <a:off x="7272038" y="1753715"/>
            <a:ext cx="12226658" cy="12226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1E1E1">
                    <a:alpha val="100000"/>
                  </a:srgbClr>
                </a:gs>
                <a:gs pos="25000">
                  <a:srgbClr val="F7F4F4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7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974398">
            <a:off x="8267192" y="-384566"/>
            <a:ext cx="9668533" cy="12226658"/>
            <a:chOff x="0" y="0"/>
            <a:chExt cx="642742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2742" cy="812800"/>
            </a:xfrm>
            <a:custGeom>
              <a:avLst/>
              <a:gdLst/>
              <a:ahLst/>
              <a:cxnLst/>
              <a:rect l="l" t="t" r="r" b="b"/>
              <a:pathLst>
                <a:path w="642742" h="812800">
                  <a:moveTo>
                    <a:pt x="321371" y="0"/>
                  </a:moveTo>
                  <a:cubicBezTo>
                    <a:pt x="143883" y="0"/>
                    <a:pt x="0" y="181951"/>
                    <a:pt x="0" y="406400"/>
                  </a:cubicBezTo>
                  <a:cubicBezTo>
                    <a:pt x="0" y="630849"/>
                    <a:pt x="143883" y="812800"/>
                    <a:pt x="321371" y="812800"/>
                  </a:cubicBezTo>
                  <a:cubicBezTo>
                    <a:pt x="498859" y="812800"/>
                    <a:pt x="642742" y="630849"/>
                    <a:pt x="642742" y="406400"/>
                  </a:cubicBezTo>
                  <a:cubicBezTo>
                    <a:pt x="642742" y="181951"/>
                    <a:pt x="498859" y="0"/>
                    <a:pt x="3213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EEEE">
                    <a:alpha val="100000"/>
                  </a:srgbClr>
                </a:gs>
                <a:gs pos="33333">
                  <a:srgbClr val="FFFFFF">
                    <a:alpha val="0"/>
                  </a:srgbClr>
                </a:gs>
                <a:gs pos="66667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57" y="0"/>
              <a:ext cx="522228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1001227">
            <a:off x="8986757" y="-2564701"/>
            <a:ext cx="10956064" cy="12226658"/>
            <a:chOff x="0" y="0"/>
            <a:chExt cx="728334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8334" cy="812800"/>
            </a:xfrm>
            <a:custGeom>
              <a:avLst/>
              <a:gdLst/>
              <a:ahLst/>
              <a:cxnLst/>
              <a:rect l="l" t="t" r="r" b="b"/>
              <a:pathLst>
                <a:path w="728334" h="812800">
                  <a:moveTo>
                    <a:pt x="364167" y="0"/>
                  </a:moveTo>
                  <a:cubicBezTo>
                    <a:pt x="163043" y="0"/>
                    <a:pt x="0" y="181951"/>
                    <a:pt x="0" y="406400"/>
                  </a:cubicBezTo>
                  <a:cubicBezTo>
                    <a:pt x="0" y="630849"/>
                    <a:pt x="163043" y="812800"/>
                    <a:pt x="364167" y="812800"/>
                  </a:cubicBezTo>
                  <a:cubicBezTo>
                    <a:pt x="565291" y="812800"/>
                    <a:pt x="728334" y="630849"/>
                    <a:pt x="728334" y="406400"/>
                  </a:cubicBezTo>
                  <a:cubicBezTo>
                    <a:pt x="728334" y="181951"/>
                    <a:pt x="565291" y="0"/>
                    <a:pt x="3641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7F6F6">
                    <a:alpha val="100000"/>
                  </a:srgbClr>
                </a:gs>
                <a:gs pos="25000">
                  <a:srgbClr val="FFFFFF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7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281" y="0"/>
              <a:ext cx="59177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318066" y="4654079"/>
            <a:ext cx="2035266" cy="1370690"/>
          </a:xfrm>
          <a:custGeom>
            <a:avLst/>
            <a:gdLst/>
            <a:ahLst/>
            <a:cxnLst/>
            <a:rect l="l" t="t" r="r" b="b"/>
            <a:pathLst>
              <a:path w="2035266" h="1370690">
                <a:moveTo>
                  <a:pt x="0" y="0"/>
                </a:moveTo>
                <a:lnTo>
                  <a:pt x="2035266" y="0"/>
                </a:lnTo>
                <a:lnTo>
                  <a:pt x="2035266" y="1370690"/>
                </a:lnTo>
                <a:lnTo>
                  <a:pt x="0" y="1370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314175" y="2495186"/>
            <a:ext cx="7353035" cy="2538698"/>
            <a:chOff x="0" y="0"/>
            <a:chExt cx="1936623" cy="6686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36623" cy="668655"/>
            </a:xfrm>
            <a:custGeom>
              <a:avLst/>
              <a:gdLst/>
              <a:ahLst/>
              <a:cxnLst/>
              <a:rect l="l" t="t" r="r" b="b"/>
              <a:pathLst>
                <a:path w="1936623" h="668655">
                  <a:moveTo>
                    <a:pt x="1936623" y="60015"/>
                  </a:moveTo>
                  <a:lnTo>
                    <a:pt x="1936623" y="608640"/>
                  </a:lnTo>
                  <a:cubicBezTo>
                    <a:pt x="1936623" y="624557"/>
                    <a:pt x="1930300" y="639822"/>
                    <a:pt x="1919045" y="651077"/>
                  </a:cubicBezTo>
                  <a:cubicBezTo>
                    <a:pt x="1907790" y="662332"/>
                    <a:pt x="1892525" y="668655"/>
                    <a:pt x="1876609" y="668655"/>
                  </a:cubicBezTo>
                  <a:lnTo>
                    <a:pt x="60015" y="668655"/>
                  </a:lnTo>
                  <a:cubicBezTo>
                    <a:pt x="44098" y="668655"/>
                    <a:pt x="28833" y="662332"/>
                    <a:pt x="17578" y="651077"/>
                  </a:cubicBezTo>
                  <a:cubicBezTo>
                    <a:pt x="6323" y="639822"/>
                    <a:pt x="0" y="624557"/>
                    <a:pt x="0" y="608640"/>
                  </a:cubicBezTo>
                  <a:lnTo>
                    <a:pt x="0" y="60015"/>
                  </a:lnTo>
                  <a:cubicBezTo>
                    <a:pt x="0" y="44098"/>
                    <a:pt x="6323" y="28833"/>
                    <a:pt x="17578" y="17578"/>
                  </a:cubicBezTo>
                  <a:cubicBezTo>
                    <a:pt x="28833" y="6323"/>
                    <a:pt x="44098" y="0"/>
                    <a:pt x="60015" y="0"/>
                  </a:cubicBezTo>
                  <a:lnTo>
                    <a:pt x="1876609" y="0"/>
                  </a:lnTo>
                  <a:cubicBezTo>
                    <a:pt x="1909754" y="0"/>
                    <a:pt x="1936623" y="26869"/>
                    <a:pt x="1936623" y="60015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1936623" cy="649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913977" y="6626181"/>
            <a:ext cx="2882677" cy="1276758"/>
            <a:chOff x="0" y="0"/>
            <a:chExt cx="976963" cy="4327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6963" cy="432704"/>
            </a:xfrm>
            <a:custGeom>
              <a:avLst/>
              <a:gdLst/>
              <a:ahLst/>
              <a:cxnLst/>
              <a:rect l="l" t="t" r="r" b="b"/>
              <a:pathLst>
                <a:path w="976963" h="432704">
                  <a:moveTo>
                    <a:pt x="107427" y="0"/>
                  </a:moveTo>
                  <a:lnTo>
                    <a:pt x="869536" y="0"/>
                  </a:lnTo>
                  <a:cubicBezTo>
                    <a:pt x="928866" y="0"/>
                    <a:pt x="976963" y="48097"/>
                    <a:pt x="976963" y="107427"/>
                  </a:cubicBezTo>
                  <a:lnTo>
                    <a:pt x="976963" y="325277"/>
                  </a:lnTo>
                  <a:cubicBezTo>
                    <a:pt x="976963" y="353768"/>
                    <a:pt x="965645" y="381093"/>
                    <a:pt x="945498" y="401239"/>
                  </a:cubicBezTo>
                  <a:cubicBezTo>
                    <a:pt x="925352" y="421386"/>
                    <a:pt x="898028" y="432704"/>
                    <a:pt x="869536" y="432704"/>
                  </a:cubicBezTo>
                  <a:lnTo>
                    <a:pt x="107427" y="432704"/>
                  </a:lnTo>
                  <a:cubicBezTo>
                    <a:pt x="78935" y="432704"/>
                    <a:pt x="51611" y="421386"/>
                    <a:pt x="31465" y="401239"/>
                  </a:cubicBezTo>
                  <a:cubicBezTo>
                    <a:pt x="11318" y="381093"/>
                    <a:pt x="0" y="353768"/>
                    <a:pt x="0" y="325277"/>
                  </a:cubicBezTo>
                  <a:lnTo>
                    <a:pt x="0" y="107427"/>
                  </a:lnTo>
                  <a:cubicBezTo>
                    <a:pt x="0" y="78935"/>
                    <a:pt x="11318" y="51611"/>
                    <a:pt x="31465" y="31465"/>
                  </a:cubicBezTo>
                  <a:cubicBezTo>
                    <a:pt x="51611" y="11318"/>
                    <a:pt x="78935" y="0"/>
                    <a:pt x="107427" y="0"/>
                  </a:cubicBezTo>
                  <a:close/>
                </a:path>
              </a:pathLst>
            </a:custGeom>
            <a:solidFill>
              <a:srgbClr val="2021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976963" cy="413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8197778"/>
            <a:ext cx="756143" cy="776579"/>
          </a:xfrm>
          <a:custGeom>
            <a:avLst/>
            <a:gdLst/>
            <a:ahLst/>
            <a:cxnLst/>
            <a:rect l="l" t="t" r="r" b="b"/>
            <a:pathLst>
              <a:path w="756143" h="776579">
                <a:moveTo>
                  <a:pt x="0" y="0"/>
                </a:moveTo>
                <a:lnTo>
                  <a:pt x="756143" y="0"/>
                </a:lnTo>
                <a:lnTo>
                  <a:pt x="756143" y="776579"/>
                </a:lnTo>
                <a:lnTo>
                  <a:pt x="0" y="77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5063033" y="8231735"/>
            <a:ext cx="1265211" cy="838935"/>
          </a:xfrm>
          <a:custGeom>
            <a:avLst/>
            <a:gdLst/>
            <a:ahLst/>
            <a:cxnLst/>
            <a:rect l="l" t="t" r="r" b="b"/>
            <a:pathLst>
              <a:path w="1265211" h="838935">
                <a:moveTo>
                  <a:pt x="0" y="0"/>
                </a:moveTo>
                <a:lnTo>
                  <a:pt x="1265211" y="0"/>
                </a:lnTo>
                <a:lnTo>
                  <a:pt x="1265211" y="838936"/>
                </a:lnTo>
                <a:lnTo>
                  <a:pt x="0" y="838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2832" b="-2797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206610" y="8195416"/>
            <a:ext cx="4258179" cy="1062884"/>
            <a:chOff x="0" y="0"/>
            <a:chExt cx="1443132" cy="3602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3132" cy="360220"/>
            </a:xfrm>
            <a:custGeom>
              <a:avLst/>
              <a:gdLst/>
              <a:ahLst/>
              <a:cxnLst/>
              <a:rect l="l" t="t" r="r" b="b"/>
              <a:pathLst>
                <a:path w="1443132" h="360220">
                  <a:moveTo>
                    <a:pt x="72725" y="0"/>
                  </a:moveTo>
                  <a:lnTo>
                    <a:pt x="1370407" y="0"/>
                  </a:lnTo>
                  <a:cubicBezTo>
                    <a:pt x="1389695" y="0"/>
                    <a:pt x="1408193" y="7662"/>
                    <a:pt x="1421832" y="21301"/>
                  </a:cubicBezTo>
                  <a:cubicBezTo>
                    <a:pt x="1435470" y="34939"/>
                    <a:pt x="1443132" y="53437"/>
                    <a:pt x="1443132" y="72725"/>
                  </a:cubicBezTo>
                  <a:lnTo>
                    <a:pt x="1443132" y="287495"/>
                  </a:lnTo>
                  <a:cubicBezTo>
                    <a:pt x="1443132" y="327660"/>
                    <a:pt x="1410572" y="360220"/>
                    <a:pt x="1370407" y="360220"/>
                  </a:cubicBezTo>
                  <a:lnTo>
                    <a:pt x="72725" y="360220"/>
                  </a:lnTo>
                  <a:cubicBezTo>
                    <a:pt x="32560" y="360220"/>
                    <a:pt x="0" y="327660"/>
                    <a:pt x="0" y="287495"/>
                  </a:cubicBezTo>
                  <a:lnTo>
                    <a:pt x="0" y="72725"/>
                  </a:lnTo>
                  <a:cubicBezTo>
                    <a:pt x="0" y="32560"/>
                    <a:pt x="32560" y="0"/>
                    <a:pt x="72725" y="0"/>
                  </a:cubicBezTo>
                  <a:close/>
                </a:path>
              </a:pathLst>
            </a:custGeom>
            <a:solidFill>
              <a:srgbClr val="20212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1443132" cy="341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8700" y="322851"/>
            <a:ext cx="14599025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Company &amp; Project Overview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4843" y="2684072"/>
            <a:ext cx="7063343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 spc="4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Consulting Engineering And Contractors </a:t>
            </a:r>
          </a:p>
          <a:p>
            <a:pPr algn="l">
              <a:lnSpc>
                <a:spcPts val="5400"/>
              </a:lnSpc>
            </a:pPr>
            <a:r>
              <a:rPr lang="en-US" sz="4500" b="1" spc="4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(Pvt) Ltd.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6148463"/>
            <a:ext cx="8466639" cy="120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Rehabilitation, improvement, and maintenance of rural roads under the Homagama Divisional Secretariat, Colombo District, Western Province.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61594" y="8112053"/>
            <a:ext cx="1943557" cy="114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122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Euro Group For Engineering Consultants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5434088"/>
            <a:ext cx="846663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3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: Road Construction Project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63033" y="7699604"/>
            <a:ext cx="2232875" cy="49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893" b="1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Consultant 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55293" y="6641088"/>
            <a:ext cx="162244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 spc="2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Supervisor: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82815" y="7052650"/>
            <a:ext cx="1967406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Mr. G.Thanushka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14775" y="7430475"/>
            <a:ext cx="2703485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Contacts : +94712493812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95277" y="3033724"/>
            <a:ext cx="3857993" cy="38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sz="2002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No.423, Nawala Road, Rajagiriya.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02663" y="4114187"/>
            <a:ext cx="2650607" cy="38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sz="2002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Uduwana, Homagama.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32108" y="2493669"/>
            <a:ext cx="2821162" cy="47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731" b="1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Corporate Office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29686" y="3659856"/>
            <a:ext cx="2323584" cy="47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731" b="1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Office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22159" y="8155819"/>
            <a:ext cx="2384028" cy="77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122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Road Development Authority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8700" y="7699604"/>
            <a:ext cx="2232875" cy="49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893" b="1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Contractor 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34379" y="8274738"/>
            <a:ext cx="386427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893" b="1" spc="2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My Role : Trainee ME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68873" y="8709356"/>
            <a:ext cx="1995289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BCC2C5"/>
                </a:solidFill>
                <a:latin typeface="Arial"/>
                <a:ea typeface="Arial"/>
                <a:cs typeface="Arial"/>
                <a:sym typeface="Arial"/>
              </a:rPr>
              <a:t>Duration 24 weeks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2</a:t>
            </a:r>
          </a:p>
        </p:txBody>
      </p:sp>
      <p:sp>
        <p:nvSpPr>
          <p:cNvPr id="45" name="AutoShape 45"/>
          <p:cNvSpPr/>
          <p:nvPr/>
        </p:nvSpPr>
        <p:spPr>
          <a:xfrm>
            <a:off x="13796654" y="2550819"/>
            <a:ext cx="0" cy="195086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028700" y="9410555"/>
            <a:ext cx="3584028" cy="49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893" b="1" spc="2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Standard followed 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42291" y="9435169"/>
            <a:ext cx="6626582" cy="42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33439"/>
                </a:solidFill>
                <a:latin typeface="Arial"/>
                <a:ea typeface="Arial"/>
                <a:cs typeface="Arial"/>
                <a:sym typeface="Arial"/>
              </a:rPr>
              <a:t>ASTM (American standards) , BS (British standards)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59794"/>
            <a:ext cx="6950293" cy="282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Team </a:t>
            </a:r>
          </a:p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51896" y="4803228"/>
            <a:ext cx="361950" cy="20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19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43288" y="7758450"/>
            <a:ext cx="828675" cy="20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Supervizor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3025" y="9285868"/>
            <a:ext cx="504825" cy="35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161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Skilled</a:t>
            </a:r>
          </a:p>
          <a:p>
            <a:pPr algn="ctr">
              <a:lnSpc>
                <a:spcPts val="1495"/>
              </a:lnSpc>
            </a:pPr>
            <a:r>
              <a:rPr lang="en-US" sz="1161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Labor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12110" y="7031447"/>
            <a:ext cx="571500" cy="19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11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Trainee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6799" y="6768130"/>
            <a:ext cx="523875" cy="18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113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Trainee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70104" y="9536983"/>
            <a:ext cx="428625" cy="19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193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Labor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9109" y="6592113"/>
            <a:ext cx="257175" cy="29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sz="167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MT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00214" y="564052"/>
            <a:ext cx="866775" cy="20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193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MANAGING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89329" y="8880139"/>
            <a:ext cx="257175" cy="156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954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Lab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24593" y="3003904"/>
            <a:ext cx="238125" cy="19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193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06628" y="4827911"/>
            <a:ext cx="771525" cy="17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lang="en-US" sz="1034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Accountant</a:t>
            </a:r>
          </a:p>
        </p:txBody>
      </p:sp>
      <p:sp>
        <p:nvSpPr>
          <p:cNvPr id="14" name="TextBox 14"/>
          <p:cNvSpPr txBox="1"/>
          <p:nvPr/>
        </p:nvSpPr>
        <p:spPr>
          <a:xfrm rot="-228844">
            <a:off x="14869509" y="5034298"/>
            <a:ext cx="266700" cy="17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116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33215" y="826210"/>
            <a:ext cx="590550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DIRECTOR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29063" y="1973162"/>
            <a:ext cx="219075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GM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2144" y="4838017"/>
            <a:ext cx="228600" cy="18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113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QS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5213" y="4888543"/>
            <a:ext cx="638175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Draftsman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30107" y="4864440"/>
            <a:ext cx="190500" cy="168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99261" y="4853175"/>
            <a:ext cx="257175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ESO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4305" y="4878438"/>
            <a:ext cx="609600" cy="17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lang="en-US" sz="1034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Surveyor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09399" y="4827911"/>
            <a:ext cx="161925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HR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67109" y="4858224"/>
            <a:ext cx="257175" cy="17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lang="en-US" sz="1034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QAI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09326" y="4808281"/>
            <a:ext cx="161925" cy="1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3"/>
              </a:lnSpc>
            </a:pPr>
            <a:r>
              <a:rPr lang="en-US" sz="79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47706" y="5060333"/>
            <a:ext cx="590550" cy="14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ENGINEER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24337" y="6323497"/>
            <a:ext cx="314325" cy="17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lang="en-US" sz="1034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AQS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66522" y="6202233"/>
            <a:ext cx="142875" cy="13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3"/>
              </a:lnSpc>
            </a:pPr>
            <a:r>
              <a:rPr lang="en-US" sz="795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69694" y="7590665"/>
            <a:ext cx="276225" cy="25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6"/>
              </a:lnSpc>
            </a:pPr>
            <a:r>
              <a:rPr lang="en-US" sz="132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53134" y="7013286"/>
            <a:ext cx="571500" cy="39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48"/>
              </a:lnSpc>
            </a:pPr>
            <a:r>
              <a:rPr lang="en-US" sz="1329" spc="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Survey</a:t>
            </a:r>
          </a:p>
          <a:p>
            <a:pPr algn="just">
              <a:lnSpc>
                <a:spcPts val="1282"/>
              </a:lnSpc>
            </a:pPr>
            <a:r>
              <a:rPr lang="en-US" sz="1034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Helper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94665" y="9092931"/>
            <a:ext cx="466725" cy="18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8"/>
              </a:lnSpc>
            </a:pPr>
            <a:r>
              <a:rPr lang="en-US" sz="1034">
                <a:solidFill>
                  <a:srgbClr val="FFFFFF"/>
                </a:solidFill>
                <a:latin typeface="Code Pro"/>
                <a:ea typeface="Code Pro"/>
                <a:cs typeface="Code Pro"/>
                <a:sym typeface="Code Pro"/>
              </a:rPr>
              <a:t>Helper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36291" y="9305722"/>
            <a:ext cx="476250" cy="168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87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Unskilled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73511" y="5242228"/>
            <a:ext cx="447675" cy="156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"/>
              </a:lnSpc>
            </a:pPr>
            <a:r>
              <a:rPr lang="en-US" sz="954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Admin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01265" y="6066392"/>
            <a:ext cx="228600" cy="1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3"/>
              </a:lnSpc>
            </a:pPr>
            <a:r>
              <a:rPr lang="en-US" sz="795">
                <a:solidFill>
                  <a:srgbClr val="FFFFFF"/>
                </a:solidFill>
                <a:latin typeface="Helveticish"/>
                <a:ea typeface="Helveticish"/>
                <a:cs typeface="Helveticish"/>
                <a:sym typeface="Helveticish"/>
              </a:rPr>
              <a:t>ASK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667107" y="377281"/>
            <a:ext cx="1522766" cy="769390"/>
            <a:chOff x="0" y="0"/>
            <a:chExt cx="516078" cy="26075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6078" cy="260753"/>
            </a:xfrm>
            <a:custGeom>
              <a:avLst/>
              <a:gdLst/>
              <a:ahLst/>
              <a:cxnLst/>
              <a:rect l="l" t="t" r="r" b="b"/>
              <a:pathLst>
                <a:path w="516078" h="260753">
                  <a:moveTo>
                    <a:pt x="76262" y="0"/>
                  </a:moveTo>
                  <a:lnTo>
                    <a:pt x="439816" y="0"/>
                  </a:lnTo>
                  <a:cubicBezTo>
                    <a:pt x="481935" y="0"/>
                    <a:pt x="516078" y="34144"/>
                    <a:pt x="516078" y="76262"/>
                  </a:cubicBezTo>
                  <a:lnTo>
                    <a:pt x="516078" y="184491"/>
                  </a:lnTo>
                  <a:cubicBezTo>
                    <a:pt x="516078" y="226609"/>
                    <a:pt x="481935" y="260753"/>
                    <a:pt x="439816" y="260753"/>
                  </a:cubicBezTo>
                  <a:lnTo>
                    <a:pt x="76262" y="260753"/>
                  </a:lnTo>
                  <a:cubicBezTo>
                    <a:pt x="34144" y="260753"/>
                    <a:pt x="0" y="226609"/>
                    <a:pt x="0" y="184491"/>
                  </a:cubicBezTo>
                  <a:lnTo>
                    <a:pt x="0" y="76262"/>
                  </a:lnTo>
                  <a:cubicBezTo>
                    <a:pt x="0" y="34144"/>
                    <a:pt x="34144" y="0"/>
                    <a:pt x="7626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16078" cy="289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MANAGING DIRECTOR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804042" y="1776960"/>
            <a:ext cx="1265958" cy="594294"/>
            <a:chOff x="0" y="0"/>
            <a:chExt cx="429044" cy="20141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29044" cy="201411"/>
            </a:xfrm>
            <a:custGeom>
              <a:avLst/>
              <a:gdLst/>
              <a:ahLst/>
              <a:cxnLst/>
              <a:rect l="l" t="t" r="r" b="b"/>
              <a:pathLst>
                <a:path w="429044" h="201411">
                  <a:moveTo>
                    <a:pt x="91732" y="0"/>
                  </a:moveTo>
                  <a:lnTo>
                    <a:pt x="337312" y="0"/>
                  </a:lnTo>
                  <a:cubicBezTo>
                    <a:pt x="387974" y="0"/>
                    <a:pt x="429044" y="41070"/>
                    <a:pt x="429044" y="91732"/>
                  </a:cubicBezTo>
                  <a:lnTo>
                    <a:pt x="429044" y="109679"/>
                  </a:lnTo>
                  <a:cubicBezTo>
                    <a:pt x="429044" y="160341"/>
                    <a:pt x="387974" y="201411"/>
                    <a:pt x="337312" y="201411"/>
                  </a:cubicBezTo>
                  <a:lnTo>
                    <a:pt x="91732" y="201411"/>
                  </a:lnTo>
                  <a:cubicBezTo>
                    <a:pt x="41070" y="201411"/>
                    <a:pt x="0" y="160341"/>
                    <a:pt x="0" y="109679"/>
                  </a:cubicBezTo>
                  <a:lnTo>
                    <a:pt x="0" y="91732"/>
                  </a:lnTo>
                  <a:cubicBezTo>
                    <a:pt x="0" y="41070"/>
                    <a:pt x="41070" y="0"/>
                    <a:pt x="9173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429044" cy="229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GM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82159" y="2898441"/>
            <a:ext cx="892661" cy="525084"/>
            <a:chOff x="0" y="0"/>
            <a:chExt cx="302530" cy="17795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02530" cy="177955"/>
            </a:xfrm>
            <a:custGeom>
              <a:avLst/>
              <a:gdLst/>
              <a:ahLst/>
              <a:cxnLst/>
              <a:rect l="l" t="t" r="r" b="b"/>
              <a:pathLst>
                <a:path w="302530" h="177955">
                  <a:moveTo>
                    <a:pt x="88978" y="0"/>
                  </a:moveTo>
                  <a:lnTo>
                    <a:pt x="213553" y="0"/>
                  </a:lnTo>
                  <a:cubicBezTo>
                    <a:pt x="237151" y="0"/>
                    <a:pt x="259783" y="9374"/>
                    <a:pt x="276469" y="26061"/>
                  </a:cubicBezTo>
                  <a:cubicBezTo>
                    <a:pt x="293156" y="42748"/>
                    <a:pt x="302530" y="65379"/>
                    <a:pt x="302530" y="88978"/>
                  </a:cubicBezTo>
                  <a:lnTo>
                    <a:pt x="302530" y="88978"/>
                  </a:lnTo>
                  <a:cubicBezTo>
                    <a:pt x="302530" y="112576"/>
                    <a:pt x="293156" y="135208"/>
                    <a:pt x="276469" y="151894"/>
                  </a:cubicBezTo>
                  <a:cubicBezTo>
                    <a:pt x="259783" y="168581"/>
                    <a:pt x="237151" y="177955"/>
                    <a:pt x="213553" y="177955"/>
                  </a:cubicBezTo>
                  <a:lnTo>
                    <a:pt x="88978" y="177955"/>
                  </a:lnTo>
                  <a:cubicBezTo>
                    <a:pt x="65379" y="177955"/>
                    <a:pt x="42748" y="168581"/>
                    <a:pt x="26061" y="151894"/>
                  </a:cubicBezTo>
                  <a:cubicBezTo>
                    <a:pt x="9374" y="135208"/>
                    <a:pt x="0" y="112576"/>
                    <a:pt x="0" y="88978"/>
                  </a:cubicBezTo>
                  <a:lnTo>
                    <a:pt x="0" y="88978"/>
                  </a:lnTo>
                  <a:cubicBezTo>
                    <a:pt x="0" y="65379"/>
                    <a:pt x="9374" y="42748"/>
                    <a:pt x="26061" y="26061"/>
                  </a:cubicBezTo>
                  <a:cubicBezTo>
                    <a:pt x="42748" y="9374"/>
                    <a:pt x="65379" y="0"/>
                    <a:pt x="8897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302530" cy="206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71396" y="4618928"/>
            <a:ext cx="1343170" cy="784218"/>
            <a:chOff x="0" y="0"/>
            <a:chExt cx="455212" cy="26577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55212" cy="265778"/>
            </a:xfrm>
            <a:custGeom>
              <a:avLst/>
              <a:gdLst/>
              <a:ahLst/>
              <a:cxnLst/>
              <a:rect l="l" t="t" r="r" b="b"/>
              <a:pathLst>
                <a:path w="455212" h="265778">
                  <a:moveTo>
                    <a:pt x="86459" y="0"/>
                  </a:moveTo>
                  <a:lnTo>
                    <a:pt x="368753" y="0"/>
                  </a:lnTo>
                  <a:cubicBezTo>
                    <a:pt x="416503" y="0"/>
                    <a:pt x="455212" y="38709"/>
                    <a:pt x="455212" y="86459"/>
                  </a:cubicBezTo>
                  <a:lnTo>
                    <a:pt x="455212" y="179319"/>
                  </a:lnTo>
                  <a:cubicBezTo>
                    <a:pt x="455212" y="227069"/>
                    <a:pt x="416503" y="265778"/>
                    <a:pt x="368753" y="265778"/>
                  </a:cubicBezTo>
                  <a:lnTo>
                    <a:pt x="86459" y="265778"/>
                  </a:lnTo>
                  <a:cubicBezTo>
                    <a:pt x="38709" y="265778"/>
                    <a:pt x="0" y="227069"/>
                    <a:pt x="0" y="179319"/>
                  </a:cubicBezTo>
                  <a:lnTo>
                    <a:pt x="0" y="86459"/>
                  </a:lnTo>
                  <a:cubicBezTo>
                    <a:pt x="0" y="38709"/>
                    <a:pt x="38709" y="0"/>
                    <a:pt x="86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455212" cy="294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SITE ENGINEER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77212" y="4687274"/>
            <a:ext cx="819715" cy="522277"/>
            <a:chOff x="0" y="0"/>
            <a:chExt cx="277808" cy="17700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7808" cy="177004"/>
            </a:xfrm>
            <a:custGeom>
              <a:avLst/>
              <a:gdLst/>
              <a:ahLst/>
              <a:cxnLst/>
              <a:rect l="l" t="t" r="r" b="b"/>
              <a:pathLst>
                <a:path w="277808" h="177004">
                  <a:moveTo>
                    <a:pt x="88502" y="0"/>
                  </a:moveTo>
                  <a:lnTo>
                    <a:pt x="189306" y="0"/>
                  </a:lnTo>
                  <a:cubicBezTo>
                    <a:pt x="212778" y="0"/>
                    <a:pt x="235289" y="9324"/>
                    <a:pt x="251887" y="25922"/>
                  </a:cubicBezTo>
                  <a:cubicBezTo>
                    <a:pt x="268484" y="42519"/>
                    <a:pt x="277808" y="65030"/>
                    <a:pt x="277808" y="88502"/>
                  </a:cubicBezTo>
                  <a:lnTo>
                    <a:pt x="277808" y="88502"/>
                  </a:lnTo>
                  <a:cubicBezTo>
                    <a:pt x="277808" y="137380"/>
                    <a:pt x="238185" y="177004"/>
                    <a:pt x="189306" y="177004"/>
                  </a:cubicBezTo>
                  <a:lnTo>
                    <a:pt x="88502" y="177004"/>
                  </a:lnTo>
                  <a:cubicBezTo>
                    <a:pt x="39624" y="177004"/>
                    <a:pt x="0" y="137380"/>
                    <a:pt x="0" y="88502"/>
                  </a:cubicBezTo>
                  <a:lnTo>
                    <a:pt x="0" y="88502"/>
                  </a:lnTo>
                  <a:cubicBezTo>
                    <a:pt x="0" y="39624"/>
                    <a:pt x="39624" y="0"/>
                    <a:pt x="885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277808" cy="205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66587" y="6151536"/>
            <a:ext cx="819715" cy="522277"/>
            <a:chOff x="0" y="0"/>
            <a:chExt cx="277808" cy="17700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77808" cy="177004"/>
            </a:xfrm>
            <a:custGeom>
              <a:avLst/>
              <a:gdLst/>
              <a:ahLst/>
              <a:cxnLst/>
              <a:rect l="l" t="t" r="r" b="b"/>
              <a:pathLst>
                <a:path w="277808" h="177004">
                  <a:moveTo>
                    <a:pt x="88502" y="0"/>
                  </a:moveTo>
                  <a:lnTo>
                    <a:pt x="189306" y="0"/>
                  </a:lnTo>
                  <a:cubicBezTo>
                    <a:pt x="212778" y="0"/>
                    <a:pt x="235289" y="9324"/>
                    <a:pt x="251887" y="25922"/>
                  </a:cubicBezTo>
                  <a:cubicBezTo>
                    <a:pt x="268484" y="42519"/>
                    <a:pt x="277808" y="65030"/>
                    <a:pt x="277808" y="88502"/>
                  </a:cubicBezTo>
                  <a:lnTo>
                    <a:pt x="277808" y="88502"/>
                  </a:lnTo>
                  <a:cubicBezTo>
                    <a:pt x="277808" y="137380"/>
                    <a:pt x="238185" y="177004"/>
                    <a:pt x="189306" y="177004"/>
                  </a:cubicBezTo>
                  <a:lnTo>
                    <a:pt x="88502" y="177004"/>
                  </a:lnTo>
                  <a:cubicBezTo>
                    <a:pt x="39624" y="177004"/>
                    <a:pt x="0" y="137380"/>
                    <a:pt x="0" y="88502"/>
                  </a:cubicBezTo>
                  <a:lnTo>
                    <a:pt x="0" y="88502"/>
                  </a:lnTo>
                  <a:cubicBezTo>
                    <a:pt x="0" y="39624"/>
                    <a:pt x="39624" y="0"/>
                    <a:pt x="885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277808" cy="205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AQS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16575" y="6673814"/>
            <a:ext cx="819715" cy="522277"/>
            <a:chOff x="0" y="0"/>
            <a:chExt cx="277808" cy="17700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7808" cy="177004"/>
            </a:xfrm>
            <a:custGeom>
              <a:avLst/>
              <a:gdLst/>
              <a:ahLst/>
              <a:cxnLst/>
              <a:rect l="l" t="t" r="r" b="b"/>
              <a:pathLst>
                <a:path w="277808" h="177004">
                  <a:moveTo>
                    <a:pt x="88502" y="0"/>
                  </a:moveTo>
                  <a:lnTo>
                    <a:pt x="189306" y="0"/>
                  </a:lnTo>
                  <a:cubicBezTo>
                    <a:pt x="212778" y="0"/>
                    <a:pt x="235289" y="9324"/>
                    <a:pt x="251887" y="25922"/>
                  </a:cubicBezTo>
                  <a:cubicBezTo>
                    <a:pt x="268484" y="42519"/>
                    <a:pt x="277808" y="65030"/>
                    <a:pt x="277808" y="88502"/>
                  </a:cubicBezTo>
                  <a:lnTo>
                    <a:pt x="277808" y="88502"/>
                  </a:lnTo>
                  <a:cubicBezTo>
                    <a:pt x="277808" y="137380"/>
                    <a:pt x="238185" y="177004"/>
                    <a:pt x="189306" y="177004"/>
                  </a:cubicBezTo>
                  <a:lnTo>
                    <a:pt x="88502" y="177004"/>
                  </a:lnTo>
                  <a:cubicBezTo>
                    <a:pt x="39624" y="177004"/>
                    <a:pt x="0" y="137380"/>
                    <a:pt x="0" y="88502"/>
                  </a:cubicBezTo>
                  <a:lnTo>
                    <a:pt x="0" y="88502"/>
                  </a:lnTo>
                  <a:cubicBezTo>
                    <a:pt x="0" y="39624"/>
                    <a:pt x="39624" y="0"/>
                    <a:pt x="885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277808" cy="205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88871" y="6798884"/>
            <a:ext cx="1086799" cy="608447"/>
            <a:chOff x="0" y="0"/>
            <a:chExt cx="368325" cy="20620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68325" cy="206208"/>
            </a:xfrm>
            <a:custGeom>
              <a:avLst/>
              <a:gdLst/>
              <a:ahLst/>
              <a:cxnLst/>
              <a:rect l="l" t="t" r="r" b="b"/>
              <a:pathLst>
                <a:path w="368325" h="206208">
                  <a:moveTo>
                    <a:pt x="103104" y="0"/>
                  </a:moveTo>
                  <a:lnTo>
                    <a:pt x="265221" y="0"/>
                  </a:lnTo>
                  <a:cubicBezTo>
                    <a:pt x="322164" y="0"/>
                    <a:pt x="368325" y="46161"/>
                    <a:pt x="368325" y="103104"/>
                  </a:cubicBezTo>
                  <a:lnTo>
                    <a:pt x="368325" y="103104"/>
                  </a:lnTo>
                  <a:cubicBezTo>
                    <a:pt x="368325" y="160047"/>
                    <a:pt x="322164" y="206208"/>
                    <a:pt x="265221" y="206208"/>
                  </a:cubicBezTo>
                  <a:lnTo>
                    <a:pt x="103104" y="206208"/>
                  </a:lnTo>
                  <a:cubicBezTo>
                    <a:pt x="46161" y="206208"/>
                    <a:pt x="0" y="160047"/>
                    <a:pt x="0" y="103104"/>
                  </a:cubicBezTo>
                  <a:lnTo>
                    <a:pt x="0" y="103104"/>
                  </a:lnTo>
                  <a:cubicBezTo>
                    <a:pt x="0" y="46161"/>
                    <a:pt x="46161" y="0"/>
                    <a:pt x="1031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368325" cy="23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Trainee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176007" y="7615516"/>
            <a:ext cx="1308409" cy="454430"/>
            <a:chOff x="0" y="0"/>
            <a:chExt cx="443431" cy="15401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3431" cy="154010"/>
            </a:xfrm>
            <a:custGeom>
              <a:avLst/>
              <a:gdLst/>
              <a:ahLst/>
              <a:cxnLst/>
              <a:rect l="l" t="t" r="r" b="b"/>
              <a:pathLst>
                <a:path w="443431" h="154010">
                  <a:moveTo>
                    <a:pt x="77005" y="0"/>
                  </a:moveTo>
                  <a:lnTo>
                    <a:pt x="366425" y="0"/>
                  </a:lnTo>
                  <a:cubicBezTo>
                    <a:pt x="386848" y="0"/>
                    <a:pt x="406435" y="8113"/>
                    <a:pt x="420876" y="22554"/>
                  </a:cubicBezTo>
                  <a:cubicBezTo>
                    <a:pt x="435318" y="36996"/>
                    <a:pt x="443431" y="56582"/>
                    <a:pt x="443431" y="77005"/>
                  </a:cubicBezTo>
                  <a:lnTo>
                    <a:pt x="443431" y="77005"/>
                  </a:lnTo>
                  <a:cubicBezTo>
                    <a:pt x="443431" y="119534"/>
                    <a:pt x="408954" y="154010"/>
                    <a:pt x="366425" y="154010"/>
                  </a:cubicBezTo>
                  <a:lnTo>
                    <a:pt x="77005" y="154010"/>
                  </a:lnTo>
                  <a:cubicBezTo>
                    <a:pt x="34476" y="154010"/>
                    <a:pt x="0" y="119534"/>
                    <a:pt x="0" y="77005"/>
                  </a:cubicBezTo>
                  <a:lnTo>
                    <a:pt x="0" y="77005"/>
                  </a:lnTo>
                  <a:cubicBezTo>
                    <a:pt x="0" y="34476"/>
                    <a:pt x="34476" y="0"/>
                    <a:pt x="770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43431" cy="18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Supervisor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64662" y="9116607"/>
            <a:ext cx="1088299" cy="707556"/>
            <a:chOff x="0" y="0"/>
            <a:chExt cx="368834" cy="23979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68834" cy="239797"/>
            </a:xfrm>
            <a:custGeom>
              <a:avLst/>
              <a:gdLst/>
              <a:ahLst/>
              <a:cxnLst/>
              <a:rect l="l" t="t" r="r" b="b"/>
              <a:pathLst>
                <a:path w="368834" h="239797">
                  <a:moveTo>
                    <a:pt x="106707" y="0"/>
                  </a:moveTo>
                  <a:lnTo>
                    <a:pt x="262127" y="0"/>
                  </a:lnTo>
                  <a:cubicBezTo>
                    <a:pt x="321059" y="0"/>
                    <a:pt x="368834" y="47774"/>
                    <a:pt x="368834" y="106707"/>
                  </a:cubicBezTo>
                  <a:lnTo>
                    <a:pt x="368834" y="133090"/>
                  </a:lnTo>
                  <a:cubicBezTo>
                    <a:pt x="368834" y="192022"/>
                    <a:pt x="321059" y="239797"/>
                    <a:pt x="262127" y="239797"/>
                  </a:cubicBezTo>
                  <a:lnTo>
                    <a:pt x="106707" y="239797"/>
                  </a:lnTo>
                  <a:cubicBezTo>
                    <a:pt x="78406" y="239797"/>
                    <a:pt x="51265" y="228554"/>
                    <a:pt x="31254" y="208543"/>
                  </a:cubicBezTo>
                  <a:cubicBezTo>
                    <a:pt x="11242" y="188532"/>
                    <a:pt x="0" y="161390"/>
                    <a:pt x="0" y="133090"/>
                  </a:cubicBezTo>
                  <a:lnTo>
                    <a:pt x="0" y="106707"/>
                  </a:lnTo>
                  <a:cubicBezTo>
                    <a:pt x="0" y="78406"/>
                    <a:pt x="11242" y="51265"/>
                    <a:pt x="31254" y="31254"/>
                  </a:cubicBezTo>
                  <a:cubicBezTo>
                    <a:pt x="51265" y="11242"/>
                    <a:pt x="78406" y="0"/>
                    <a:pt x="1067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68834" cy="268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Skilled </a:t>
              </a:r>
              <a:r>
                <a:rPr lang="en-US" sz="1599" b="1" spc="111" dirty="0" err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Labour</a:t>
              </a:r>
              <a:endParaRPr lang="en-US" sz="1599" b="1" spc="11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830212" y="9121506"/>
            <a:ext cx="1336375" cy="788214"/>
            <a:chOff x="0" y="0"/>
            <a:chExt cx="452909" cy="26713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52909" cy="267132"/>
            </a:xfrm>
            <a:custGeom>
              <a:avLst/>
              <a:gdLst/>
              <a:ahLst/>
              <a:cxnLst/>
              <a:rect l="l" t="t" r="r" b="b"/>
              <a:pathLst>
                <a:path w="452909" h="267132">
                  <a:moveTo>
                    <a:pt x="86898" y="0"/>
                  </a:moveTo>
                  <a:lnTo>
                    <a:pt x="366010" y="0"/>
                  </a:lnTo>
                  <a:cubicBezTo>
                    <a:pt x="389057" y="0"/>
                    <a:pt x="411160" y="9155"/>
                    <a:pt x="427457" y="25452"/>
                  </a:cubicBezTo>
                  <a:cubicBezTo>
                    <a:pt x="443753" y="41749"/>
                    <a:pt x="452909" y="63851"/>
                    <a:pt x="452909" y="86898"/>
                  </a:cubicBezTo>
                  <a:lnTo>
                    <a:pt x="452909" y="180234"/>
                  </a:lnTo>
                  <a:cubicBezTo>
                    <a:pt x="452909" y="203281"/>
                    <a:pt x="443753" y="225384"/>
                    <a:pt x="427457" y="241680"/>
                  </a:cubicBezTo>
                  <a:cubicBezTo>
                    <a:pt x="411160" y="257977"/>
                    <a:pt x="389057" y="267132"/>
                    <a:pt x="366010" y="267132"/>
                  </a:cubicBezTo>
                  <a:lnTo>
                    <a:pt x="86898" y="267132"/>
                  </a:lnTo>
                  <a:cubicBezTo>
                    <a:pt x="63851" y="267132"/>
                    <a:pt x="41749" y="257977"/>
                    <a:pt x="25452" y="241680"/>
                  </a:cubicBezTo>
                  <a:cubicBezTo>
                    <a:pt x="9155" y="225384"/>
                    <a:pt x="0" y="203281"/>
                    <a:pt x="0" y="180234"/>
                  </a:cubicBezTo>
                  <a:lnTo>
                    <a:pt x="0" y="86898"/>
                  </a:lnTo>
                  <a:cubicBezTo>
                    <a:pt x="0" y="63851"/>
                    <a:pt x="9155" y="41749"/>
                    <a:pt x="25452" y="25452"/>
                  </a:cubicBezTo>
                  <a:cubicBezTo>
                    <a:pt x="41749" y="9155"/>
                    <a:pt x="63851" y="0"/>
                    <a:pt x="868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452909" cy="295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Unskilled </a:t>
              </a:r>
            </a:p>
            <a:p>
              <a:pPr algn="ctr">
                <a:lnSpc>
                  <a:spcPts val="1855"/>
                </a:lnSpc>
              </a:pPr>
              <a:r>
                <a:rPr lang="en-US" sz="1599" b="1" spc="111" dirty="0" err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Labour</a:t>
              </a:r>
              <a:endParaRPr lang="en-US" sz="1599" b="1" spc="11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58494" y="4618928"/>
            <a:ext cx="1391613" cy="676868"/>
            <a:chOff x="0" y="0"/>
            <a:chExt cx="471629" cy="22939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71629" cy="229396"/>
            </a:xfrm>
            <a:custGeom>
              <a:avLst/>
              <a:gdLst/>
              <a:ahLst/>
              <a:cxnLst/>
              <a:rect l="l" t="t" r="r" b="b"/>
              <a:pathLst>
                <a:path w="471629" h="229396">
                  <a:moveTo>
                    <a:pt x="83449" y="0"/>
                  </a:moveTo>
                  <a:lnTo>
                    <a:pt x="388180" y="0"/>
                  </a:lnTo>
                  <a:cubicBezTo>
                    <a:pt x="410312" y="0"/>
                    <a:pt x="431538" y="8792"/>
                    <a:pt x="447188" y="24442"/>
                  </a:cubicBezTo>
                  <a:cubicBezTo>
                    <a:pt x="462837" y="40091"/>
                    <a:pt x="471629" y="61317"/>
                    <a:pt x="471629" y="83449"/>
                  </a:cubicBezTo>
                  <a:lnTo>
                    <a:pt x="471629" y="145947"/>
                  </a:lnTo>
                  <a:cubicBezTo>
                    <a:pt x="471629" y="168079"/>
                    <a:pt x="462837" y="189305"/>
                    <a:pt x="447188" y="204954"/>
                  </a:cubicBezTo>
                  <a:cubicBezTo>
                    <a:pt x="431538" y="220604"/>
                    <a:pt x="410312" y="229396"/>
                    <a:pt x="388180" y="229396"/>
                  </a:cubicBezTo>
                  <a:lnTo>
                    <a:pt x="83449" y="229396"/>
                  </a:lnTo>
                  <a:cubicBezTo>
                    <a:pt x="37361" y="229396"/>
                    <a:pt x="0" y="192035"/>
                    <a:pt x="0" y="145947"/>
                  </a:cubicBezTo>
                  <a:lnTo>
                    <a:pt x="0" y="83449"/>
                  </a:lnTo>
                  <a:cubicBezTo>
                    <a:pt x="0" y="61317"/>
                    <a:pt x="8792" y="40091"/>
                    <a:pt x="24442" y="24442"/>
                  </a:cubicBezTo>
                  <a:cubicBezTo>
                    <a:pt x="40091" y="8792"/>
                    <a:pt x="61317" y="0"/>
                    <a:pt x="834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471629" cy="257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Draftsman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822584" y="4636087"/>
            <a:ext cx="739943" cy="642550"/>
            <a:chOff x="0" y="0"/>
            <a:chExt cx="250773" cy="21776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50773" cy="217766"/>
            </a:xfrm>
            <a:custGeom>
              <a:avLst/>
              <a:gdLst/>
              <a:ahLst/>
              <a:cxnLst/>
              <a:rect l="l" t="t" r="r" b="b"/>
              <a:pathLst>
                <a:path w="250773" h="217766">
                  <a:moveTo>
                    <a:pt x="108883" y="0"/>
                  </a:moveTo>
                  <a:lnTo>
                    <a:pt x="141890" y="0"/>
                  </a:lnTo>
                  <a:cubicBezTo>
                    <a:pt x="202024" y="0"/>
                    <a:pt x="250773" y="48748"/>
                    <a:pt x="250773" y="108883"/>
                  </a:cubicBezTo>
                  <a:lnTo>
                    <a:pt x="250773" y="108883"/>
                  </a:lnTo>
                  <a:cubicBezTo>
                    <a:pt x="250773" y="169017"/>
                    <a:pt x="202024" y="217766"/>
                    <a:pt x="141890" y="217766"/>
                  </a:cubicBezTo>
                  <a:lnTo>
                    <a:pt x="108883" y="217766"/>
                  </a:lnTo>
                  <a:cubicBezTo>
                    <a:pt x="48748" y="217766"/>
                    <a:pt x="0" y="169017"/>
                    <a:pt x="0" y="108883"/>
                  </a:cubicBezTo>
                  <a:lnTo>
                    <a:pt x="0" y="108883"/>
                  </a:lnTo>
                  <a:cubicBezTo>
                    <a:pt x="0" y="48748"/>
                    <a:pt x="48748" y="0"/>
                    <a:pt x="1088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250773" cy="246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472614" y="4646350"/>
            <a:ext cx="739943" cy="642550"/>
            <a:chOff x="0" y="0"/>
            <a:chExt cx="250773" cy="21776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50773" cy="217766"/>
            </a:xfrm>
            <a:custGeom>
              <a:avLst/>
              <a:gdLst/>
              <a:ahLst/>
              <a:cxnLst/>
              <a:rect l="l" t="t" r="r" b="b"/>
              <a:pathLst>
                <a:path w="250773" h="217766">
                  <a:moveTo>
                    <a:pt x="108883" y="0"/>
                  </a:moveTo>
                  <a:lnTo>
                    <a:pt x="141890" y="0"/>
                  </a:lnTo>
                  <a:cubicBezTo>
                    <a:pt x="202024" y="0"/>
                    <a:pt x="250773" y="48748"/>
                    <a:pt x="250773" y="108883"/>
                  </a:cubicBezTo>
                  <a:lnTo>
                    <a:pt x="250773" y="108883"/>
                  </a:lnTo>
                  <a:cubicBezTo>
                    <a:pt x="250773" y="169017"/>
                    <a:pt x="202024" y="217766"/>
                    <a:pt x="141890" y="217766"/>
                  </a:cubicBezTo>
                  <a:lnTo>
                    <a:pt x="108883" y="217766"/>
                  </a:lnTo>
                  <a:cubicBezTo>
                    <a:pt x="48748" y="217766"/>
                    <a:pt x="0" y="169017"/>
                    <a:pt x="0" y="108883"/>
                  </a:cubicBezTo>
                  <a:lnTo>
                    <a:pt x="0" y="108883"/>
                  </a:lnTo>
                  <a:cubicBezTo>
                    <a:pt x="0" y="48748"/>
                    <a:pt x="48748" y="0"/>
                    <a:pt x="1088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250773" cy="246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ESO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282412" y="4634597"/>
            <a:ext cx="1112945" cy="605423"/>
            <a:chOff x="0" y="0"/>
            <a:chExt cx="377186" cy="20518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77186" cy="205183"/>
            </a:xfrm>
            <a:custGeom>
              <a:avLst/>
              <a:gdLst/>
              <a:ahLst/>
              <a:cxnLst/>
              <a:rect l="l" t="t" r="r" b="b"/>
              <a:pathLst>
                <a:path w="377186" h="205183">
                  <a:moveTo>
                    <a:pt x="102592" y="0"/>
                  </a:moveTo>
                  <a:lnTo>
                    <a:pt x="274595" y="0"/>
                  </a:lnTo>
                  <a:cubicBezTo>
                    <a:pt x="301804" y="0"/>
                    <a:pt x="327898" y="10809"/>
                    <a:pt x="347138" y="30048"/>
                  </a:cubicBezTo>
                  <a:cubicBezTo>
                    <a:pt x="366378" y="49288"/>
                    <a:pt x="377186" y="75383"/>
                    <a:pt x="377186" y="102592"/>
                  </a:cubicBezTo>
                  <a:lnTo>
                    <a:pt x="377186" y="102592"/>
                  </a:lnTo>
                  <a:cubicBezTo>
                    <a:pt x="377186" y="129800"/>
                    <a:pt x="366378" y="155895"/>
                    <a:pt x="347138" y="175135"/>
                  </a:cubicBezTo>
                  <a:cubicBezTo>
                    <a:pt x="327898" y="194374"/>
                    <a:pt x="301804" y="205183"/>
                    <a:pt x="274595" y="205183"/>
                  </a:cubicBezTo>
                  <a:lnTo>
                    <a:pt x="102592" y="205183"/>
                  </a:lnTo>
                  <a:cubicBezTo>
                    <a:pt x="75383" y="205183"/>
                    <a:pt x="49288" y="194374"/>
                    <a:pt x="30048" y="175135"/>
                  </a:cubicBezTo>
                  <a:cubicBezTo>
                    <a:pt x="10809" y="155895"/>
                    <a:pt x="0" y="129800"/>
                    <a:pt x="0" y="102592"/>
                  </a:cubicBezTo>
                  <a:lnTo>
                    <a:pt x="0" y="102592"/>
                  </a:lnTo>
                  <a:cubicBezTo>
                    <a:pt x="0" y="75383"/>
                    <a:pt x="10809" y="49288"/>
                    <a:pt x="30048" y="30048"/>
                  </a:cubicBezTo>
                  <a:cubicBezTo>
                    <a:pt x="49288" y="10809"/>
                    <a:pt x="75383" y="0"/>
                    <a:pt x="1025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377186" cy="233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Surveyor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3493683" y="4590714"/>
            <a:ext cx="763442" cy="564459"/>
            <a:chOff x="0" y="0"/>
            <a:chExt cx="258737" cy="1913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58737" cy="191300"/>
            </a:xfrm>
            <a:custGeom>
              <a:avLst/>
              <a:gdLst/>
              <a:ahLst/>
              <a:cxnLst/>
              <a:rect l="l" t="t" r="r" b="b"/>
              <a:pathLst>
                <a:path w="258737" h="191300">
                  <a:moveTo>
                    <a:pt x="95650" y="0"/>
                  </a:moveTo>
                  <a:lnTo>
                    <a:pt x="163087" y="0"/>
                  </a:lnTo>
                  <a:cubicBezTo>
                    <a:pt x="215913" y="0"/>
                    <a:pt x="258737" y="42824"/>
                    <a:pt x="258737" y="95650"/>
                  </a:cubicBezTo>
                  <a:lnTo>
                    <a:pt x="258737" y="95650"/>
                  </a:lnTo>
                  <a:cubicBezTo>
                    <a:pt x="258737" y="121018"/>
                    <a:pt x="248659" y="145347"/>
                    <a:pt x="230721" y="163285"/>
                  </a:cubicBezTo>
                  <a:cubicBezTo>
                    <a:pt x="212784" y="181222"/>
                    <a:pt x="188455" y="191300"/>
                    <a:pt x="163087" y="191300"/>
                  </a:cubicBezTo>
                  <a:lnTo>
                    <a:pt x="95650" y="191300"/>
                  </a:lnTo>
                  <a:cubicBezTo>
                    <a:pt x="70282" y="191300"/>
                    <a:pt x="45953" y="181222"/>
                    <a:pt x="28015" y="163285"/>
                  </a:cubicBezTo>
                  <a:cubicBezTo>
                    <a:pt x="10077" y="145347"/>
                    <a:pt x="0" y="121018"/>
                    <a:pt x="0" y="95650"/>
                  </a:cubicBezTo>
                  <a:lnTo>
                    <a:pt x="0" y="95650"/>
                  </a:lnTo>
                  <a:cubicBezTo>
                    <a:pt x="0" y="70282"/>
                    <a:pt x="10077" y="45953"/>
                    <a:pt x="28015" y="28015"/>
                  </a:cubicBezTo>
                  <a:cubicBezTo>
                    <a:pt x="45953" y="10077"/>
                    <a:pt x="70282" y="0"/>
                    <a:pt x="956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28575"/>
              <a:ext cx="258737" cy="21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HR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4382284" y="4646350"/>
            <a:ext cx="1273865" cy="852390"/>
            <a:chOff x="0" y="0"/>
            <a:chExt cx="431724" cy="28888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31724" cy="288882"/>
            </a:xfrm>
            <a:custGeom>
              <a:avLst/>
              <a:gdLst/>
              <a:ahLst/>
              <a:cxnLst/>
              <a:rect l="l" t="t" r="r" b="b"/>
              <a:pathLst>
                <a:path w="431724" h="288882">
                  <a:moveTo>
                    <a:pt x="91163" y="0"/>
                  </a:moveTo>
                  <a:lnTo>
                    <a:pt x="340561" y="0"/>
                  </a:lnTo>
                  <a:cubicBezTo>
                    <a:pt x="390909" y="0"/>
                    <a:pt x="431724" y="40815"/>
                    <a:pt x="431724" y="91163"/>
                  </a:cubicBezTo>
                  <a:lnTo>
                    <a:pt x="431724" y="197720"/>
                  </a:lnTo>
                  <a:cubicBezTo>
                    <a:pt x="431724" y="248067"/>
                    <a:pt x="390909" y="288882"/>
                    <a:pt x="340561" y="288882"/>
                  </a:cubicBezTo>
                  <a:lnTo>
                    <a:pt x="91163" y="288882"/>
                  </a:lnTo>
                  <a:cubicBezTo>
                    <a:pt x="40815" y="288882"/>
                    <a:pt x="0" y="248067"/>
                    <a:pt x="0" y="197720"/>
                  </a:cubicBezTo>
                  <a:lnTo>
                    <a:pt x="0" y="91163"/>
                  </a:lnTo>
                  <a:cubicBezTo>
                    <a:pt x="0" y="40815"/>
                    <a:pt x="40815" y="0"/>
                    <a:pt x="911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431724" cy="317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Accounts</a:t>
              </a:r>
            </a:p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&amp;</a:t>
              </a:r>
            </a:p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816424" y="4646350"/>
            <a:ext cx="765500" cy="568286"/>
            <a:chOff x="0" y="0"/>
            <a:chExt cx="259434" cy="19259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59434" cy="192597"/>
            </a:xfrm>
            <a:custGeom>
              <a:avLst/>
              <a:gdLst/>
              <a:ahLst/>
              <a:cxnLst/>
              <a:rect l="l" t="t" r="r" b="b"/>
              <a:pathLst>
                <a:path w="259434" h="192597">
                  <a:moveTo>
                    <a:pt x="96298" y="0"/>
                  </a:moveTo>
                  <a:lnTo>
                    <a:pt x="163136" y="0"/>
                  </a:lnTo>
                  <a:cubicBezTo>
                    <a:pt x="188676" y="0"/>
                    <a:pt x="213170" y="10146"/>
                    <a:pt x="231229" y="28205"/>
                  </a:cubicBezTo>
                  <a:cubicBezTo>
                    <a:pt x="249289" y="46265"/>
                    <a:pt x="259434" y="70759"/>
                    <a:pt x="259434" y="96298"/>
                  </a:cubicBezTo>
                  <a:lnTo>
                    <a:pt x="259434" y="96298"/>
                  </a:lnTo>
                  <a:cubicBezTo>
                    <a:pt x="259434" y="121838"/>
                    <a:pt x="249289" y="146332"/>
                    <a:pt x="231229" y="164392"/>
                  </a:cubicBezTo>
                  <a:cubicBezTo>
                    <a:pt x="213170" y="182451"/>
                    <a:pt x="188676" y="192597"/>
                    <a:pt x="163136" y="192597"/>
                  </a:cubicBezTo>
                  <a:lnTo>
                    <a:pt x="96298" y="192597"/>
                  </a:lnTo>
                  <a:cubicBezTo>
                    <a:pt x="70759" y="192597"/>
                    <a:pt x="46265" y="182451"/>
                    <a:pt x="28205" y="164392"/>
                  </a:cubicBezTo>
                  <a:cubicBezTo>
                    <a:pt x="10146" y="146332"/>
                    <a:pt x="0" y="121838"/>
                    <a:pt x="0" y="96298"/>
                  </a:cubicBezTo>
                  <a:lnTo>
                    <a:pt x="0" y="96298"/>
                  </a:lnTo>
                  <a:cubicBezTo>
                    <a:pt x="0" y="70759"/>
                    <a:pt x="10146" y="46265"/>
                    <a:pt x="28205" y="28205"/>
                  </a:cubicBezTo>
                  <a:cubicBezTo>
                    <a:pt x="46265" y="10146"/>
                    <a:pt x="70759" y="0"/>
                    <a:pt x="962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28575"/>
              <a:ext cx="259434" cy="221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QAI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6743849" y="4609283"/>
            <a:ext cx="675115" cy="535185"/>
            <a:chOff x="0" y="0"/>
            <a:chExt cx="228802" cy="18137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28802" cy="181379"/>
            </a:xfrm>
            <a:custGeom>
              <a:avLst/>
              <a:gdLst/>
              <a:ahLst/>
              <a:cxnLst/>
              <a:rect l="l" t="t" r="r" b="b"/>
              <a:pathLst>
                <a:path w="228802" h="181379">
                  <a:moveTo>
                    <a:pt x="90689" y="0"/>
                  </a:moveTo>
                  <a:lnTo>
                    <a:pt x="138113" y="0"/>
                  </a:lnTo>
                  <a:cubicBezTo>
                    <a:pt x="162165" y="0"/>
                    <a:pt x="185232" y="9555"/>
                    <a:pt x="202240" y="26562"/>
                  </a:cubicBezTo>
                  <a:cubicBezTo>
                    <a:pt x="219247" y="43570"/>
                    <a:pt x="228802" y="66637"/>
                    <a:pt x="228802" y="90689"/>
                  </a:cubicBezTo>
                  <a:lnTo>
                    <a:pt x="228802" y="90689"/>
                  </a:lnTo>
                  <a:cubicBezTo>
                    <a:pt x="228802" y="114742"/>
                    <a:pt x="219247" y="137809"/>
                    <a:pt x="202240" y="154816"/>
                  </a:cubicBezTo>
                  <a:cubicBezTo>
                    <a:pt x="185232" y="171824"/>
                    <a:pt x="162165" y="181379"/>
                    <a:pt x="138113" y="181379"/>
                  </a:cubicBezTo>
                  <a:lnTo>
                    <a:pt x="90689" y="181379"/>
                  </a:lnTo>
                  <a:cubicBezTo>
                    <a:pt x="66637" y="181379"/>
                    <a:pt x="43570" y="171824"/>
                    <a:pt x="26562" y="154816"/>
                  </a:cubicBezTo>
                  <a:cubicBezTo>
                    <a:pt x="9555" y="137809"/>
                    <a:pt x="0" y="114742"/>
                    <a:pt x="0" y="90689"/>
                  </a:cubicBezTo>
                  <a:lnTo>
                    <a:pt x="0" y="90689"/>
                  </a:lnTo>
                  <a:cubicBezTo>
                    <a:pt x="0" y="66637"/>
                    <a:pt x="9555" y="43570"/>
                    <a:pt x="26562" y="26562"/>
                  </a:cubicBezTo>
                  <a:cubicBezTo>
                    <a:pt x="43570" y="9555"/>
                    <a:pt x="66637" y="0"/>
                    <a:pt x="906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228802" cy="209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SK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6743849" y="5827374"/>
            <a:ext cx="675115" cy="585301"/>
            <a:chOff x="0" y="0"/>
            <a:chExt cx="228802" cy="198363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28802" cy="198363"/>
            </a:xfrm>
            <a:custGeom>
              <a:avLst/>
              <a:gdLst/>
              <a:ahLst/>
              <a:cxnLst/>
              <a:rect l="l" t="t" r="r" b="b"/>
              <a:pathLst>
                <a:path w="228802" h="198363">
                  <a:moveTo>
                    <a:pt x="99182" y="0"/>
                  </a:moveTo>
                  <a:lnTo>
                    <a:pt x="129620" y="0"/>
                  </a:lnTo>
                  <a:cubicBezTo>
                    <a:pt x="184397" y="0"/>
                    <a:pt x="228802" y="44405"/>
                    <a:pt x="228802" y="99182"/>
                  </a:cubicBezTo>
                  <a:lnTo>
                    <a:pt x="228802" y="99182"/>
                  </a:lnTo>
                  <a:cubicBezTo>
                    <a:pt x="228802" y="153958"/>
                    <a:pt x="184397" y="198363"/>
                    <a:pt x="129620" y="198363"/>
                  </a:cubicBezTo>
                  <a:lnTo>
                    <a:pt x="99182" y="198363"/>
                  </a:lnTo>
                  <a:cubicBezTo>
                    <a:pt x="44405" y="198363"/>
                    <a:pt x="0" y="153958"/>
                    <a:pt x="0" y="99182"/>
                  </a:cubicBezTo>
                  <a:lnTo>
                    <a:pt x="0" y="99182"/>
                  </a:lnTo>
                  <a:cubicBezTo>
                    <a:pt x="0" y="44405"/>
                    <a:pt x="44405" y="0"/>
                    <a:pt x="99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228802" cy="226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ASK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449930" y="5987663"/>
            <a:ext cx="739943" cy="554506"/>
            <a:chOff x="0" y="0"/>
            <a:chExt cx="250773" cy="187927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50773" cy="187927"/>
            </a:xfrm>
            <a:custGeom>
              <a:avLst/>
              <a:gdLst/>
              <a:ahLst/>
              <a:cxnLst/>
              <a:rect l="l" t="t" r="r" b="b"/>
              <a:pathLst>
                <a:path w="250773" h="187927">
                  <a:moveTo>
                    <a:pt x="93963" y="0"/>
                  </a:moveTo>
                  <a:lnTo>
                    <a:pt x="156810" y="0"/>
                  </a:lnTo>
                  <a:cubicBezTo>
                    <a:pt x="208704" y="0"/>
                    <a:pt x="250773" y="42069"/>
                    <a:pt x="250773" y="93963"/>
                  </a:cubicBezTo>
                  <a:lnTo>
                    <a:pt x="250773" y="93963"/>
                  </a:lnTo>
                  <a:cubicBezTo>
                    <a:pt x="250773" y="118884"/>
                    <a:pt x="240873" y="142784"/>
                    <a:pt x="223252" y="160406"/>
                  </a:cubicBezTo>
                  <a:cubicBezTo>
                    <a:pt x="205630" y="178027"/>
                    <a:pt x="181730" y="187927"/>
                    <a:pt x="156810" y="187927"/>
                  </a:cubicBezTo>
                  <a:lnTo>
                    <a:pt x="93963" y="187927"/>
                  </a:lnTo>
                  <a:cubicBezTo>
                    <a:pt x="69043" y="187927"/>
                    <a:pt x="45143" y="178027"/>
                    <a:pt x="27521" y="160406"/>
                  </a:cubicBezTo>
                  <a:cubicBezTo>
                    <a:pt x="9900" y="142784"/>
                    <a:pt x="0" y="118884"/>
                    <a:pt x="0" y="93963"/>
                  </a:cubicBezTo>
                  <a:lnTo>
                    <a:pt x="0" y="93963"/>
                  </a:lnTo>
                  <a:cubicBezTo>
                    <a:pt x="0" y="69043"/>
                    <a:pt x="9900" y="45143"/>
                    <a:pt x="27521" y="27521"/>
                  </a:cubicBezTo>
                  <a:cubicBezTo>
                    <a:pt x="45143" y="9900"/>
                    <a:pt x="69043" y="0"/>
                    <a:pt x="939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250773" cy="21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2186980" y="6857433"/>
            <a:ext cx="1303810" cy="743852"/>
            <a:chOff x="0" y="0"/>
            <a:chExt cx="441872" cy="25209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41872" cy="252097"/>
            </a:xfrm>
            <a:custGeom>
              <a:avLst/>
              <a:gdLst/>
              <a:ahLst/>
              <a:cxnLst/>
              <a:rect l="l" t="t" r="r" b="b"/>
              <a:pathLst>
                <a:path w="441872" h="252097">
                  <a:moveTo>
                    <a:pt x="89069" y="0"/>
                  </a:moveTo>
                  <a:lnTo>
                    <a:pt x="352803" y="0"/>
                  </a:lnTo>
                  <a:cubicBezTo>
                    <a:pt x="401994" y="0"/>
                    <a:pt x="441872" y="39877"/>
                    <a:pt x="441872" y="89069"/>
                  </a:cubicBezTo>
                  <a:lnTo>
                    <a:pt x="441872" y="163029"/>
                  </a:lnTo>
                  <a:cubicBezTo>
                    <a:pt x="441872" y="212220"/>
                    <a:pt x="401994" y="252097"/>
                    <a:pt x="352803" y="252097"/>
                  </a:cubicBezTo>
                  <a:lnTo>
                    <a:pt x="89069" y="252097"/>
                  </a:lnTo>
                  <a:cubicBezTo>
                    <a:pt x="39877" y="252097"/>
                    <a:pt x="0" y="212220"/>
                    <a:pt x="0" y="163029"/>
                  </a:cubicBezTo>
                  <a:lnTo>
                    <a:pt x="0" y="89069"/>
                  </a:lnTo>
                  <a:cubicBezTo>
                    <a:pt x="0" y="39877"/>
                    <a:pt x="39877" y="0"/>
                    <a:pt x="890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28575"/>
              <a:ext cx="441872" cy="28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Surveyor Helper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007734" y="6586808"/>
            <a:ext cx="1184822" cy="473214"/>
            <a:chOff x="0" y="0"/>
            <a:chExt cx="401546" cy="16037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01546" cy="160376"/>
            </a:xfrm>
            <a:custGeom>
              <a:avLst/>
              <a:gdLst/>
              <a:ahLst/>
              <a:cxnLst/>
              <a:rect l="l" t="t" r="r" b="b"/>
              <a:pathLst>
                <a:path w="401546" h="160376">
                  <a:moveTo>
                    <a:pt x="80188" y="0"/>
                  </a:moveTo>
                  <a:lnTo>
                    <a:pt x="321358" y="0"/>
                  </a:lnTo>
                  <a:cubicBezTo>
                    <a:pt x="365645" y="0"/>
                    <a:pt x="401546" y="35901"/>
                    <a:pt x="401546" y="80188"/>
                  </a:cubicBezTo>
                  <a:lnTo>
                    <a:pt x="401546" y="80188"/>
                  </a:lnTo>
                  <a:cubicBezTo>
                    <a:pt x="401546" y="124475"/>
                    <a:pt x="365645" y="160376"/>
                    <a:pt x="321358" y="160376"/>
                  </a:cubicBezTo>
                  <a:lnTo>
                    <a:pt x="80188" y="160376"/>
                  </a:lnTo>
                  <a:cubicBezTo>
                    <a:pt x="35901" y="160376"/>
                    <a:pt x="0" y="124475"/>
                    <a:pt x="0" y="80188"/>
                  </a:cubicBezTo>
                  <a:lnTo>
                    <a:pt x="0" y="80188"/>
                  </a:lnTo>
                  <a:cubicBezTo>
                    <a:pt x="0" y="35901"/>
                    <a:pt x="35901" y="0"/>
                    <a:pt x="801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BF8B16">
                    <a:alpha val="10000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401546" cy="18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Trainee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441416" y="6461738"/>
            <a:ext cx="929610" cy="473214"/>
            <a:chOff x="0" y="0"/>
            <a:chExt cx="315053" cy="16037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15053" cy="160376"/>
            </a:xfrm>
            <a:custGeom>
              <a:avLst/>
              <a:gdLst/>
              <a:ahLst/>
              <a:cxnLst/>
              <a:rect l="l" t="t" r="r" b="b"/>
              <a:pathLst>
                <a:path w="315053" h="160376">
                  <a:moveTo>
                    <a:pt x="80188" y="0"/>
                  </a:moveTo>
                  <a:lnTo>
                    <a:pt x="234865" y="0"/>
                  </a:lnTo>
                  <a:cubicBezTo>
                    <a:pt x="279151" y="0"/>
                    <a:pt x="315053" y="35901"/>
                    <a:pt x="315053" y="80188"/>
                  </a:cubicBezTo>
                  <a:lnTo>
                    <a:pt x="315053" y="80188"/>
                  </a:lnTo>
                  <a:cubicBezTo>
                    <a:pt x="315053" y="101455"/>
                    <a:pt x="306604" y="121851"/>
                    <a:pt x="291566" y="136890"/>
                  </a:cubicBezTo>
                  <a:cubicBezTo>
                    <a:pt x="276528" y="151928"/>
                    <a:pt x="256132" y="160376"/>
                    <a:pt x="234865" y="160376"/>
                  </a:cubicBezTo>
                  <a:lnTo>
                    <a:pt x="80188" y="160376"/>
                  </a:lnTo>
                  <a:cubicBezTo>
                    <a:pt x="35901" y="160376"/>
                    <a:pt x="0" y="124475"/>
                    <a:pt x="0" y="80188"/>
                  </a:cubicBezTo>
                  <a:lnTo>
                    <a:pt x="0" y="80188"/>
                  </a:lnTo>
                  <a:cubicBezTo>
                    <a:pt x="0" y="35901"/>
                    <a:pt x="35901" y="0"/>
                    <a:pt x="801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315053" cy="18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MT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535409" y="7508666"/>
            <a:ext cx="733293" cy="473214"/>
            <a:chOff x="0" y="0"/>
            <a:chExt cx="248519" cy="16037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48519" cy="160376"/>
            </a:xfrm>
            <a:custGeom>
              <a:avLst/>
              <a:gdLst/>
              <a:ahLst/>
              <a:cxnLst/>
              <a:rect l="l" t="t" r="r" b="b"/>
              <a:pathLst>
                <a:path w="248519" h="160376">
                  <a:moveTo>
                    <a:pt x="80188" y="0"/>
                  </a:moveTo>
                  <a:lnTo>
                    <a:pt x="168331" y="0"/>
                  </a:lnTo>
                  <a:cubicBezTo>
                    <a:pt x="212618" y="0"/>
                    <a:pt x="248519" y="35901"/>
                    <a:pt x="248519" y="80188"/>
                  </a:cubicBezTo>
                  <a:lnTo>
                    <a:pt x="248519" y="80188"/>
                  </a:lnTo>
                  <a:cubicBezTo>
                    <a:pt x="248519" y="101455"/>
                    <a:pt x="240071" y="121851"/>
                    <a:pt x="225033" y="136890"/>
                  </a:cubicBezTo>
                  <a:cubicBezTo>
                    <a:pt x="209994" y="151928"/>
                    <a:pt x="189598" y="160376"/>
                    <a:pt x="168331" y="160376"/>
                  </a:cubicBezTo>
                  <a:lnTo>
                    <a:pt x="80188" y="160376"/>
                  </a:lnTo>
                  <a:cubicBezTo>
                    <a:pt x="35901" y="160376"/>
                    <a:pt x="0" y="124475"/>
                    <a:pt x="0" y="80188"/>
                  </a:cubicBezTo>
                  <a:lnTo>
                    <a:pt x="0" y="80188"/>
                  </a:lnTo>
                  <a:cubicBezTo>
                    <a:pt x="0" y="35901"/>
                    <a:pt x="35901" y="0"/>
                    <a:pt x="801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28575"/>
              <a:ext cx="248519" cy="18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AMT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421361" y="8563647"/>
            <a:ext cx="1028568" cy="992386"/>
            <a:chOff x="0" y="0"/>
            <a:chExt cx="348590" cy="33632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48590" cy="336328"/>
            </a:xfrm>
            <a:custGeom>
              <a:avLst/>
              <a:gdLst/>
              <a:ahLst/>
              <a:cxnLst/>
              <a:rect l="l" t="t" r="r" b="b"/>
              <a:pathLst>
                <a:path w="348590" h="336328">
                  <a:moveTo>
                    <a:pt x="112903" y="0"/>
                  </a:moveTo>
                  <a:lnTo>
                    <a:pt x="235687" y="0"/>
                  </a:lnTo>
                  <a:cubicBezTo>
                    <a:pt x="298042" y="0"/>
                    <a:pt x="348590" y="50549"/>
                    <a:pt x="348590" y="112903"/>
                  </a:cubicBezTo>
                  <a:lnTo>
                    <a:pt x="348590" y="223424"/>
                  </a:lnTo>
                  <a:cubicBezTo>
                    <a:pt x="348590" y="285779"/>
                    <a:pt x="298042" y="336328"/>
                    <a:pt x="235687" y="336328"/>
                  </a:cubicBezTo>
                  <a:lnTo>
                    <a:pt x="112903" y="336328"/>
                  </a:lnTo>
                  <a:cubicBezTo>
                    <a:pt x="50549" y="336328"/>
                    <a:pt x="0" y="285779"/>
                    <a:pt x="0" y="223424"/>
                  </a:cubicBezTo>
                  <a:lnTo>
                    <a:pt x="0" y="112903"/>
                  </a:lnTo>
                  <a:cubicBezTo>
                    <a:pt x="0" y="50549"/>
                    <a:pt x="50549" y="0"/>
                    <a:pt x="1129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D7486">
                    <a:alpha val="100000"/>
                  </a:srgbClr>
                </a:gs>
                <a:gs pos="100000">
                  <a:srgbClr val="0A0D13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28575"/>
              <a:ext cx="348590" cy="364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Lab </a:t>
              </a:r>
            </a:p>
            <a:p>
              <a:pPr algn="ctr">
                <a:lnSpc>
                  <a:spcPts val="1855"/>
                </a:lnSpc>
              </a:pPr>
              <a:r>
                <a:rPr lang="en-US" sz="1599" b="1" spc="11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Helper</a:t>
              </a:r>
            </a:p>
          </p:txBody>
        </p:sp>
      </p:grpSp>
      <p:sp>
        <p:nvSpPr>
          <p:cNvPr id="112" name="AutoShape 112"/>
          <p:cNvSpPr/>
          <p:nvPr/>
        </p:nvSpPr>
        <p:spPr>
          <a:xfrm>
            <a:off x="11428490" y="1146671"/>
            <a:ext cx="8532" cy="630289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AutoShape 113"/>
          <p:cNvSpPr/>
          <p:nvPr/>
        </p:nvSpPr>
        <p:spPr>
          <a:xfrm flipH="1">
            <a:off x="11428490" y="2371254"/>
            <a:ext cx="8532" cy="527187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AutoShape 114"/>
          <p:cNvSpPr/>
          <p:nvPr/>
        </p:nvSpPr>
        <p:spPr>
          <a:xfrm flipH="1">
            <a:off x="11428490" y="3423525"/>
            <a:ext cx="0" cy="453764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AutoShape 115"/>
          <p:cNvSpPr/>
          <p:nvPr/>
        </p:nvSpPr>
        <p:spPr>
          <a:xfrm>
            <a:off x="6342981" y="3877289"/>
            <a:ext cx="0" cy="74164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AutoShape 116"/>
          <p:cNvSpPr/>
          <p:nvPr/>
        </p:nvSpPr>
        <p:spPr>
          <a:xfrm>
            <a:off x="7587070" y="3877289"/>
            <a:ext cx="0" cy="809986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AutoShape 117"/>
          <p:cNvSpPr/>
          <p:nvPr/>
        </p:nvSpPr>
        <p:spPr>
          <a:xfrm>
            <a:off x="8754301" y="3877289"/>
            <a:ext cx="0" cy="74164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AutoShape 118"/>
          <p:cNvSpPr/>
          <p:nvPr/>
        </p:nvSpPr>
        <p:spPr>
          <a:xfrm flipH="1">
            <a:off x="10192556" y="3877289"/>
            <a:ext cx="0" cy="758799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AutoShape 119"/>
          <p:cNvSpPr/>
          <p:nvPr/>
        </p:nvSpPr>
        <p:spPr>
          <a:xfrm flipH="1">
            <a:off x="11842586" y="3877289"/>
            <a:ext cx="0" cy="769061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AutoShape 120"/>
          <p:cNvSpPr/>
          <p:nvPr/>
        </p:nvSpPr>
        <p:spPr>
          <a:xfrm>
            <a:off x="12838884" y="3877289"/>
            <a:ext cx="0" cy="757308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AutoShape 121"/>
          <p:cNvSpPr/>
          <p:nvPr/>
        </p:nvSpPr>
        <p:spPr>
          <a:xfrm>
            <a:off x="13875403" y="3877289"/>
            <a:ext cx="0" cy="713425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AutoShape 122"/>
          <p:cNvSpPr/>
          <p:nvPr/>
        </p:nvSpPr>
        <p:spPr>
          <a:xfrm flipH="1">
            <a:off x="15019216" y="3877289"/>
            <a:ext cx="0" cy="769061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AutoShape 123"/>
          <p:cNvSpPr/>
          <p:nvPr/>
        </p:nvSpPr>
        <p:spPr>
          <a:xfrm>
            <a:off x="16199174" y="3877289"/>
            <a:ext cx="0" cy="769061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AutoShape 124"/>
          <p:cNvSpPr/>
          <p:nvPr/>
        </p:nvSpPr>
        <p:spPr>
          <a:xfrm flipH="1">
            <a:off x="17081406" y="3877289"/>
            <a:ext cx="0" cy="731994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AutoShape 125"/>
          <p:cNvSpPr/>
          <p:nvPr/>
        </p:nvSpPr>
        <p:spPr>
          <a:xfrm flipH="1">
            <a:off x="5826433" y="6094967"/>
            <a:ext cx="0" cy="578847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AutoShape 126"/>
          <p:cNvSpPr/>
          <p:nvPr/>
        </p:nvSpPr>
        <p:spPr>
          <a:xfrm>
            <a:off x="5826433" y="7196091"/>
            <a:ext cx="3779" cy="419425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AutoShape 127"/>
          <p:cNvSpPr/>
          <p:nvPr/>
        </p:nvSpPr>
        <p:spPr>
          <a:xfrm>
            <a:off x="6832270" y="6094967"/>
            <a:ext cx="0" cy="703917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AutoShape 128"/>
          <p:cNvSpPr/>
          <p:nvPr/>
        </p:nvSpPr>
        <p:spPr>
          <a:xfrm flipH="1">
            <a:off x="5208811" y="8563647"/>
            <a:ext cx="0" cy="55296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AutoShape 129"/>
          <p:cNvSpPr/>
          <p:nvPr/>
        </p:nvSpPr>
        <p:spPr>
          <a:xfrm flipH="1">
            <a:off x="6498399" y="8563647"/>
            <a:ext cx="0" cy="557859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AutoShape 130"/>
          <p:cNvSpPr/>
          <p:nvPr/>
        </p:nvSpPr>
        <p:spPr>
          <a:xfrm flipH="1">
            <a:off x="7576444" y="5209552"/>
            <a:ext cx="10626" cy="941985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AutoShape 131"/>
          <p:cNvSpPr/>
          <p:nvPr/>
        </p:nvSpPr>
        <p:spPr>
          <a:xfrm flipH="1">
            <a:off x="9600145" y="5498740"/>
            <a:ext cx="0" cy="1088068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AutoShape 132"/>
          <p:cNvSpPr/>
          <p:nvPr/>
        </p:nvSpPr>
        <p:spPr>
          <a:xfrm flipH="1">
            <a:off x="10906221" y="5498740"/>
            <a:ext cx="0" cy="962998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AutoShape 133"/>
          <p:cNvSpPr/>
          <p:nvPr/>
        </p:nvSpPr>
        <p:spPr>
          <a:xfrm flipH="1">
            <a:off x="10902056" y="6934952"/>
            <a:ext cx="4165" cy="573714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AutoShape 134"/>
          <p:cNvSpPr/>
          <p:nvPr/>
        </p:nvSpPr>
        <p:spPr>
          <a:xfrm>
            <a:off x="10902056" y="7981880"/>
            <a:ext cx="33590" cy="581767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AutoShape 135"/>
          <p:cNvSpPr/>
          <p:nvPr/>
        </p:nvSpPr>
        <p:spPr>
          <a:xfrm flipH="1">
            <a:off x="11819901" y="5288900"/>
            <a:ext cx="22684" cy="698764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AutoShape 136"/>
          <p:cNvSpPr/>
          <p:nvPr/>
        </p:nvSpPr>
        <p:spPr>
          <a:xfrm>
            <a:off x="12838884" y="5240020"/>
            <a:ext cx="0" cy="1617412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AutoShape 137"/>
          <p:cNvSpPr/>
          <p:nvPr/>
        </p:nvSpPr>
        <p:spPr>
          <a:xfrm>
            <a:off x="17081406" y="5144467"/>
            <a:ext cx="0" cy="682907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AutoShape 138"/>
          <p:cNvSpPr/>
          <p:nvPr/>
        </p:nvSpPr>
        <p:spPr>
          <a:xfrm flipH="1">
            <a:off x="6342981" y="3877289"/>
            <a:ext cx="10738426" cy="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9" name="AutoShape 139"/>
          <p:cNvSpPr/>
          <p:nvPr/>
        </p:nvSpPr>
        <p:spPr>
          <a:xfrm flipH="1">
            <a:off x="5830212" y="6094967"/>
            <a:ext cx="1002059" cy="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0" name="AutoShape 140"/>
          <p:cNvSpPr/>
          <p:nvPr/>
        </p:nvSpPr>
        <p:spPr>
          <a:xfrm flipH="1" flipV="1">
            <a:off x="5176007" y="8563647"/>
            <a:ext cx="1337838" cy="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1" name="AutoShape 141"/>
          <p:cNvSpPr/>
          <p:nvPr/>
        </p:nvSpPr>
        <p:spPr>
          <a:xfrm flipH="1" flipV="1">
            <a:off x="5830212" y="8069946"/>
            <a:ext cx="0" cy="493701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2" name="AutoShape 142"/>
          <p:cNvSpPr/>
          <p:nvPr/>
        </p:nvSpPr>
        <p:spPr>
          <a:xfrm flipH="1" flipV="1">
            <a:off x="6342981" y="5403146"/>
            <a:ext cx="0" cy="69182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3" name="AutoShape 143"/>
          <p:cNvSpPr/>
          <p:nvPr/>
        </p:nvSpPr>
        <p:spPr>
          <a:xfrm flipH="1" flipV="1">
            <a:off x="9600145" y="5498740"/>
            <a:ext cx="1306076" cy="0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AutoShape 144"/>
          <p:cNvSpPr/>
          <p:nvPr/>
        </p:nvSpPr>
        <p:spPr>
          <a:xfrm flipH="1" flipV="1">
            <a:off x="10192556" y="5278637"/>
            <a:ext cx="0" cy="220103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 145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3</a:t>
            </a:r>
          </a:p>
        </p:txBody>
      </p:sp>
      <p:graphicFrame>
        <p:nvGraphicFramePr>
          <p:cNvPr id="146" name="Object 146"/>
          <p:cNvGraphicFramePr/>
          <p:nvPr/>
        </p:nvGraphicFramePr>
        <p:xfrm>
          <a:off x="846117" y="3472461"/>
          <a:ext cx="2514600" cy="544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594100" imgH="6527800" progId="Excel.Sheet.12">
                  <p:embed/>
                </p:oleObj>
              </mc:Choice>
              <mc:Fallback>
                <p:oleObj name="Worksheet" r:id="rId3" imgW="3594100" imgH="6527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6117" y="3472461"/>
                        <a:ext cx="2514600" cy="544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3678" y="2429595"/>
            <a:ext cx="8115300" cy="950447"/>
            <a:chOff x="0" y="0"/>
            <a:chExt cx="1562904" cy="183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3678" y="4856914"/>
            <a:ext cx="8115300" cy="950447"/>
            <a:chOff x="0" y="0"/>
            <a:chExt cx="1562904" cy="183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3678" y="7284233"/>
            <a:ext cx="8115300" cy="950447"/>
            <a:chOff x="0" y="0"/>
            <a:chExt cx="1562904" cy="183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72165" y="1028700"/>
            <a:ext cx="1497705" cy="626376"/>
            <a:chOff x="0" y="0"/>
            <a:chExt cx="660290" cy="2761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317545" y="1028700"/>
            <a:ext cx="1497705" cy="626376"/>
            <a:chOff x="0" y="0"/>
            <a:chExt cx="660290" cy="2761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799903" y="2429595"/>
            <a:ext cx="3459397" cy="2412930"/>
          </a:xfrm>
          <a:custGeom>
            <a:avLst/>
            <a:gdLst/>
            <a:ahLst/>
            <a:cxnLst/>
            <a:rect l="l" t="t" r="r" b="b"/>
            <a:pathLst>
              <a:path w="3459397" h="2412930">
                <a:moveTo>
                  <a:pt x="0" y="0"/>
                </a:moveTo>
                <a:lnTo>
                  <a:pt x="3459397" y="0"/>
                </a:lnTo>
                <a:lnTo>
                  <a:pt x="3459397" y="2412929"/>
                </a:lnTo>
                <a:lnTo>
                  <a:pt x="0" y="2412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379680" y="3267721"/>
            <a:ext cx="2974055" cy="3965406"/>
          </a:xfrm>
          <a:custGeom>
            <a:avLst/>
            <a:gdLst/>
            <a:ahLst/>
            <a:cxnLst/>
            <a:rect l="l" t="t" r="r" b="b"/>
            <a:pathLst>
              <a:path w="2974055" h="3965406">
                <a:moveTo>
                  <a:pt x="0" y="0"/>
                </a:moveTo>
                <a:lnTo>
                  <a:pt x="2974055" y="0"/>
                </a:lnTo>
                <a:lnTo>
                  <a:pt x="2974055" y="3965406"/>
                </a:lnTo>
                <a:lnTo>
                  <a:pt x="0" y="396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274437" y="5560686"/>
            <a:ext cx="2984863" cy="3121669"/>
          </a:xfrm>
          <a:custGeom>
            <a:avLst/>
            <a:gdLst/>
            <a:ahLst/>
            <a:cxnLst/>
            <a:rect l="l" t="t" r="r" b="b"/>
            <a:pathLst>
              <a:path w="2984863" h="3121669">
                <a:moveTo>
                  <a:pt x="0" y="0"/>
                </a:moveTo>
                <a:lnTo>
                  <a:pt x="2984863" y="0"/>
                </a:lnTo>
                <a:lnTo>
                  <a:pt x="2984863" y="3121669"/>
                </a:lnTo>
                <a:lnTo>
                  <a:pt x="0" y="31216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498560"/>
            <a:ext cx="12063104" cy="14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Key Technical Learning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7200" y="3345968"/>
            <a:ext cx="7153747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DCP, Proctor, CBR, PI, SA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2351416"/>
            <a:ext cx="7647822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Soil &amp; Aggregate Testing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778735"/>
            <a:ext cx="5570883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Concrete Testing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7206054"/>
            <a:ext cx="8430278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Bitumen &amp; Asphalt Testing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17200" y="5769261"/>
            <a:ext cx="7153747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Slump, Cube test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17200" y="8310880"/>
            <a:ext cx="10110955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Tray test, Marshall Stability, Extraction test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41219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PO1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86599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LO1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3678" y="2429595"/>
            <a:ext cx="8115300" cy="950447"/>
            <a:chOff x="0" y="0"/>
            <a:chExt cx="1562904" cy="183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3678" y="4502933"/>
            <a:ext cx="8115300" cy="950447"/>
            <a:chOff x="0" y="0"/>
            <a:chExt cx="1562904" cy="183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3678" y="6819900"/>
            <a:ext cx="8115300" cy="950447"/>
            <a:chOff x="0" y="0"/>
            <a:chExt cx="1562904" cy="183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2904" cy="183049"/>
            </a:xfrm>
            <a:custGeom>
              <a:avLst/>
              <a:gdLst/>
              <a:ahLst/>
              <a:cxnLst/>
              <a:rect l="l" t="t" r="r" b="b"/>
              <a:pathLst>
                <a:path w="1562904" h="183049">
                  <a:moveTo>
                    <a:pt x="1562904" y="54377"/>
                  </a:moveTo>
                  <a:lnTo>
                    <a:pt x="1562904" y="128672"/>
                  </a:lnTo>
                  <a:cubicBezTo>
                    <a:pt x="1562904" y="143094"/>
                    <a:pt x="1557175" y="156925"/>
                    <a:pt x="1546977" y="167123"/>
                  </a:cubicBezTo>
                  <a:cubicBezTo>
                    <a:pt x="1536780" y="177320"/>
                    <a:pt x="1522949" y="183049"/>
                    <a:pt x="1508527" y="183049"/>
                  </a:cubicBezTo>
                  <a:lnTo>
                    <a:pt x="54377" y="183049"/>
                  </a:lnTo>
                  <a:cubicBezTo>
                    <a:pt x="39956" y="183049"/>
                    <a:pt x="26125" y="177320"/>
                    <a:pt x="15927" y="167123"/>
                  </a:cubicBezTo>
                  <a:cubicBezTo>
                    <a:pt x="5729" y="156925"/>
                    <a:pt x="0" y="143094"/>
                    <a:pt x="0" y="128672"/>
                  </a:cubicBezTo>
                  <a:lnTo>
                    <a:pt x="0" y="54377"/>
                  </a:lnTo>
                  <a:cubicBezTo>
                    <a:pt x="0" y="39956"/>
                    <a:pt x="5729" y="26125"/>
                    <a:pt x="15927" y="15927"/>
                  </a:cubicBezTo>
                  <a:cubicBezTo>
                    <a:pt x="26125" y="5729"/>
                    <a:pt x="39956" y="0"/>
                    <a:pt x="54377" y="0"/>
                  </a:cubicBezTo>
                  <a:lnTo>
                    <a:pt x="1508527" y="0"/>
                  </a:lnTo>
                  <a:cubicBezTo>
                    <a:pt x="1522949" y="0"/>
                    <a:pt x="1536780" y="5729"/>
                    <a:pt x="1546977" y="15927"/>
                  </a:cubicBezTo>
                  <a:cubicBezTo>
                    <a:pt x="1557175" y="26125"/>
                    <a:pt x="1562904" y="39956"/>
                    <a:pt x="1562904" y="54377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562904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47267" y="1028700"/>
            <a:ext cx="1497705" cy="626376"/>
            <a:chOff x="0" y="0"/>
            <a:chExt cx="660290" cy="2761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78322" y="1028700"/>
            <a:ext cx="1497705" cy="626376"/>
            <a:chOff x="0" y="0"/>
            <a:chExt cx="660290" cy="2761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761595" y="1028700"/>
            <a:ext cx="1497705" cy="626376"/>
            <a:chOff x="0" y="0"/>
            <a:chExt cx="660290" cy="2761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173565" y="2429595"/>
            <a:ext cx="4085735" cy="2318655"/>
          </a:xfrm>
          <a:custGeom>
            <a:avLst/>
            <a:gdLst/>
            <a:ahLst/>
            <a:cxnLst/>
            <a:rect l="l" t="t" r="r" b="b"/>
            <a:pathLst>
              <a:path w="4085735" h="2318655">
                <a:moveTo>
                  <a:pt x="0" y="0"/>
                </a:moveTo>
                <a:lnTo>
                  <a:pt x="4085735" y="0"/>
                </a:lnTo>
                <a:lnTo>
                  <a:pt x="4085735" y="2318654"/>
                </a:lnTo>
                <a:lnTo>
                  <a:pt x="0" y="2318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903983" y="5143500"/>
            <a:ext cx="3355317" cy="3635966"/>
          </a:xfrm>
          <a:custGeom>
            <a:avLst/>
            <a:gdLst/>
            <a:ahLst/>
            <a:cxnLst/>
            <a:rect l="l" t="t" r="r" b="b"/>
            <a:pathLst>
              <a:path w="3355317" h="3635966">
                <a:moveTo>
                  <a:pt x="0" y="0"/>
                </a:moveTo>
                <a:lnTo>
                  <a:pt x="3355317" y="0"/>
                </a:lnTo>
                <a:lnTo>
                  <a:pt x="3355317" y="3635966"/>
                </a:lnTo>
                <a:lnTo>
                  <a:pt x="0" y="363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28700" y="498560"/>
            <a:ext cx="11387229" cy="14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Design &amp; Management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7200" y="3345968"/>
            <a:ext cx="10453369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Pavement design, Concrete mix design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2526023"/>
            <a:ext cx="7647822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4635214"/>
            <a:ext cx="7170648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Investigation &amp; Impact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888967"/>
            <a:ext cx="7170648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17200" y="5415280"/>
            <a:ext cx="11760766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Borrow pit investigation &amp; environmental considerations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17200" y="7846547"/>
            <a:ext cx="11760766" cy="181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Stockpile management like ABC, SB, EMB, Aggregate and SHO and Quality testing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16321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PO3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347376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PO7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30649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LO2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3678" y="2429595"/>
            <a:ext cx="8943322" cy="950447"/>
            <a:chOff x="0" y="0"/>
            <a:chExt cx="1674349" cy="183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4349" cy="183049"/>
            </a:xfrm>
            <a:custGeom>
              <a:avLst/>
              <a:gdLst/>
              <a:ahLst/>
              <a:cxnLst/>
              <a:rect l="l" t="t" r="r" b="b"/>
              <a:pathLst>
                <a:path w="1674349" h="183049">
                  <a:moveTo>
                    <a:pt x="1674349" y="50758"/>
                  </a:moveTo>
                  <a:lnTo>
                    <a:pt x="1674349" y="132291"/>
                  </a:lnTo>
                  <a:cubicBezTo>
                    <a:pt x="1674349" y="145753"/>
                    <a:pt x="1669002" y="158664"/>
                    <a:pt x="1659483" y="168183"/>
                  </a:cubicBezTo>
                  <a:cubicBezTo>
                    <a:pt x="1649964" y="177702"/>
                    <a:pt x="1637053" y="183049"/>
                    <a:pt x="1623591" y="183049"/>
                  </a:cubicBezTo>
                  <a:lnTo>
                    <a:pt x="50758" y="183049"/>
                  </a:lnTo>
                  <a:cubicBezTo>
                    <a:pt x="37296" y="183049"/>
                    <a:pt x="24386" y="177702"/>
                    <a:pt x="14867" y="168183"/>
                  </a:cubicBezTo>
                  <a:cubicBezTo>
                    <a:pt x="5348" y="158664"/>
                    <a:pt x="0" y="145753"/>
                    <a:pt x="0" y="132291"/>
                  </a:cubicBezTo>
                  <a:lnTo>
                    <a:pt x="0" y="50758"/>
                  </a:lnTo>
                  <a:cubicBezTo>
                    <a:pt x="0" y="37296"/>
                    <a:pt x="5348" y="24386"/>
                    <a:pt x="14867" y="14867"/>
                  </a:cubicBezTo>
                  <a:cubicBezTo>
                    <a:pt x="24386" y="5348"/>
                    <a:pt x="37296" y="0"/>
                    <a:pt x="50758" y="0"/>
                  </a:cubicBezTo>
                  <a:lnTo>
                    <a:pt x="1623591" y="0"/>
                  </a:lnTo>
                  <a:cubicBezTo>
                    <a:pt x="1651624" y="0"/>
                    <a:pt x="1674349" y="22725"/>
                    <a:pt x="1674349" y="50758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674349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3678" y="4856914"/>
            <a:ext cx="8943322" cy="950447"/>
            <a:chOff x="0" y="0"/>
            <a:chExt cx="1674349" cy="183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4349" cy="183049"/>
            </a:xfrm>
            <a:custGeom>
              <a:avLst/>
              <a:gdLst/>
              <a:ahLst/>
              <a:cxnLst/>
              <a:rect l="l" t="t" r="r" b="b"/>
              <a:pathLst>
                <a:path w="1674349" h="183049">
                  <a:moveTo>
                    <a:pt x="1674349" y="50758"/>
                  </a:moveTo>
                  <a:lnTo>
                    <a:pt x="1674349" y="132291"/>
                  </a:lnTo>
                  <a:cubicBezTo>
                    <a:pt x="1674349" y="145753"/>
                    <a:pt x="1669002" y="158664"/>
                    <a:pt x="1659483" y="168183"/>
                  </a:cubicBezTo>
                  <a:cubicBezTo>
                    <a:pt x="1649964" y="177702"/>
                    <a:pt x="1637053" y="183049"/>
                    <a:pt x="1623591" y="183049"/>
                  </a:cubicBezTo>
                  <a:lnTo>
                    <a:pt x="50758" y="183049"/>
                  </a:lnTo>
                  <a:cubicBezTo>
                    <a:pt x="37296" y="183049"/>
                    <a:pt x="24386" y="177702"/>
                    <a:pt x="14867" y="168183"/>
                  </a:cubicBezTo>
                  <a:cubicBezTo>
                    <a:pt x="5348" y="158664"/>
                    <a:pt x="0" y="145753"/>
                    <a:pt x="0" y="132291"/>
                  </a:cubicBezTo>
                  <a:lnTo>
                    <a:pt x="0" y="50758"/>
                  </a:lnTo>
                  <a:cubicBezTo>
                    <a:pt x="0" y="37296"/>
                    <a:pt x="5348" y="24386"/>
                    <a:pt x="14867" y="14867"/>
                  </a:cubicBezTo>
                  <a:cubicBezTo>
                    <a:pt x="24386" y="5348"/>
                    <a:pt x="37296" y="0"/>
                    <a:pt x="50758" y="0"/>
                  </a:cubicBezTo>
                  <a:lnTo>
                    <a:pt x="1623591" y="0"/>
                  </a:lnTo>
                  <a:cubicBezTo>
                    <a:pt x="1651624" y="0"/>
                    <a:pt x="1674349" y="22725"/>
                    <a:pt x="1674349" y="50758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674349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3678" y="7284233"/>
            <a:ext cx="8943322" cy="950447"/>
            <a:chOff x="0" y="0"/>
            <a:chExt cx="1674349" cy="183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4349" cy="183049"/>
            </a:xfrm>
            <a:custGeom>
              <a:avLst/>
              <a:gdLst/>
              <a:ahLst/>
              <a:cxnLst/>
              <a:rect l="l" t="t" r="r" b="b"/>
              <a:pathLst>
                <a:path w="1674349" h="183049">
                  <a:moveTo>
                    <a:pt x="1674349" y="50758"/>
                  </a:moveTo>
                  <a:lnTo>
                    <a:pt x="1674349" y="132291"/>
                  </a:lnTo>
                  <a:cubicBezTo>
                    <a:pt x="1674349" y="145753"/>
                    <a:pt x="1669002" y="158664"/>
                    <a:pt x="1659483" y="168183"/>
                  </a:cubicBezTo>
                  <a:cubicBezTo>
                    <a:pt x="1649964" y="177702"/>
                    <a:pt x="1637053" y="183049"/>
                    <a:pt x="1623591" y="183049"/>
                  </a:cubicBezTo>
                  <a:lnTo>
                    <a:pt x="50758" y="183049"/>
                  </a:lnTo>
                  <a:cubicBezTo>
                    <a:pt x="37296" y="183049"/>
                    <a:pt x="24386" y="177702"/>
                    <a:pt x="14867" y="168183"/>
                  </a:cubicBezTo>
                  <a:cubicBezTo>
                    <a:pt x="5348" y="158664"/>
                    <a:pt x="0" y="145753"/>
                    <a:pt x="0" y="132291"/>
                  </a:cubicBezTo>
                  <a:lnTo>
                    <a:pt x="0" y="50758"/>
                  </a:lnTo>
                  <a:cubicBezTo>
                    <a:pt x="0" y="37296"/>
                    <a:pt x="5348" y="24386"/>
                    <a:pt x="14867" y="14867"/>
                  </a:cubicBezTo>
                  <a:cubicBezTo>
                    <a:pt x="24386" y="5348"/>
                    <a:pt x="37296" y="0"/>
                    <a:pt x="50758" y="0"/>
                  </a:cubicBezTo>
                  <a:lnTo>
                    <a:pt x="1623591" y="0"/>
                  </a:lnTo>
                  <a:cubicBezTo>
                    <a:pt x="1651624" y="0"/>
                    <a:pt x="1674349" y="22725"/>
                    <a:pt x="1674349" y="50758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674349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81598" y="1028700"/>
            <a:ext cx="1497705" cy="626376"/>
            <a:chOff x="0" y="0"/>
            <a:chExt cx="660290" cy="2761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653" y="1028700"/>
            <a:ext cx="1497705" cy="626376"/>
            <a:chOff x="0" y="0"/>
            <a:chExt cx="660290" cy="2761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5926" y="1028700"/>
            <a:ext cx="1497705" cy="626376"/>
            <a:chOff x="0" y="0"/>
            <a:chExt cx="660290" cy="2761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358729" y="2136602"/>
            <a:ext cx="4527343" cy="6833726"/>
          </a:xfrm>
          <a:custGeom>
            <a:avLst/>
            <a:gdLst/>
            <a:ahLst/>
            <a:cxnLst/>
            <a:rect l="l" t="t" r="r" b="b"/>
            <a:pathLst>
              <a:path w="4527343" h="6833726">
                <a:moveTo>
                  <a:pt x="0" y="0"/>
                </a:moveTo>
                <a:lnTo>
                  <a:pt x="4527344" y="0"/>
                </a:lnTo>
                <a:lnTo>
                  <a:pt x="4527344" y="6833726"/>
                </a:lnTo>
                <a:lnTo>
                  <a:pt x="0" y="6833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498560"/>
            <a:ext cx="10603879" cy="14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Documentation &amp; QA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17200" y="3345968"/>
            <a:ext cx="2365117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DPR, RFI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476500"/>
            <a:ext cx="9563100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 Reports &amp; Inspection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914900"/>
            <a:ext cx="8943322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QA documentation standards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7326623"/>
            <a:ext cx="8420100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reporting tools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17200" y="5769261"/>
            <a:ext cx="2365117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 9001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17200" y="8310880"/>
            <a:ext cx="10110955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an Excel-based RFI management tool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66125" y="1099270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197180" y="1099270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🎯PO11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64980" y="106756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🎯LO4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1106" y="2505044"/>
            <a:ext cx="12005788" cy="6753256"/>
          </a:xfrm>
          <a:custGeom>
            <a:avLst/>
            <a:gdLst/>
            <a:ahLst/>
            <a:cxnLst/>
            <a:rect l="l" t="t" r="r" b="b"/>
            <a:pathLst>
              <a:path w="12005788" h="6753256">
                <a:moveTo>
                  <a:pt x="0" y="0"/>
                </a:moveTo>
                <a:lnTo>
                  <a:pt x="12005788" y="0"/>
                </a:lnTo>
                <a:lnTo>
                  <a:pt x="12005788" y="6753256"/>
                </a:lnTo>
                <a:lnTo>
                  <a:pt x="0" y="675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98560"/>
            <a:ext cx="10770202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Automated Reporting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3678" y="2429595"/>
            <a:ext cx="3275630" cy="950447"/>
            <a:chOff x="0" y="0"/>
            <a:chExt cx="630845" cy="183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845" cy="183049"/>
            </a:xfrm>
            <a:custGeom>
              <a:avLst/>
              <a:gdLst/>
              <a:ahLst/>
              <a:cxnLst/>
              <a:rect l="l" t="t" r="r" b="b"/>
              <a:pathLst>
                <a:path w="630845" h="183049">
                  <a:moveTo>
                    <a:pt x="630845" y="91525"/>
                  </a:moveTo>
                  <a:lnTo>
                    <a:pt x="630845" y="91525"/>
                  </a:lnTo>
                  <a:cubicBezTo>
                    <a:pt x="630845" y="142072"/>
                    <a:pt x="589868" y="183049"/>
                    <a:pt x="539320" y="183049"/>
                  </a:cubicBezTo>
                  <a:lnTo>
                    <a:pt x="91525" y="183049"/>
                  </a:lnTo>
                  <a:cubicBezTo>
                    <a:pt x="40977" y="183049"/>
                    <a:pt x="0" y="142072"/>
                    <a:pt x="0" y="91525"/>
                  </a:cubicBezTo>
                  <a:lnTo>
                    <a:pt x="0" y="91525"/>
                  </a:lnTo>
                  <a:cubicBezTo>
                    <a:pt x="0" y="40977"/>
                    <a:pt x="40977" y="0"/>
                    <a:pt x="91525" y="0"/>
                  </a:cubicBezTo>
                  <a:lnTo>
                    <a:pt x="539320" y="0"/>
                  </a:lnTo>
                  <a:cubicBezTo>
                    <a:pt x="589868" y="0"/>
                    <a:pt x="630845" y="40977"/>
                    <a:pt x="630845" y="91525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630845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98560"/>
            <a:ext cx="13832805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 dirty="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Automated DCP test report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7200" y="3345968"/>
            <a:ext cx="11107758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Inefficiency and errors in manual DCP test reporting.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49823"/>
            <a:ext cx="3298855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43678" y="5200650"/>
            <a:ext cx="3275630" cy="950447"/>
            <a:chOff x="0" y="0"/>
            <a:chExt cx="630845" cy="183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0845" cy="183049"/>
            </a:xfrm>
            <a:custGeom>
              <a:avLst/>
              <a:gdLst/>
              <a:ahLst/>
              <a:cxnLst/>
              <a:rect l="l" t="t" r="r" b="b"/>
              <a:pathLst>
                <a:path w="630845" h="183049">
                  <a:moveTo>
                    <a:pt x="630845" y="91525"/>
                  </a:moveTo>
                  <a:lnTo>
                    <a:pt x="630845" y="91525"/>
                  </a:lnTo>
                  <a:cubicBezTo>
                    <a:pt x="630845" y="142072"/>
                    <a:pt x="589868" y="183049"/>
                    <a:pt x="539320" y="183049"/>
                  </a:cubicBezTo>
                  <a:lnTo>
                    <a:pt x="91525" y="183049"/>
                  </a:lnTo>
                  <a:cubicBezTo>
                    <a:pt x="40977" y="183049"/>
                    <a:pt x="0" y="142072"/>
                    <a:pt x="0" y="91525"/>
                  </a:cubicBezTo>
                  <a:lnTo>
                    <a:pt x="0" y="91525"/>
                  </a:lnTo>
                  <a:cubicBezTo>
                    <a:pt x="0" y="40977"/>
                    <a:pt x="40977" y="0"/>
                    <a:pt x="91525" y="0"/>
                  </a:cubicBezTo>
                  <a:lnTo>
                    <a:pt x="539320" y="0"/>
                  </a:lnTo>
                  <a:cubicBezTo>
                    <a:pt x="589868" y="0"/>
                    <a:pt x="630845" y="40977"/>
                    <a:pt x="630845" y="91525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630845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217795"/>
            <a:ext cx="321813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7200" y="6112997"/>
            <a:ext cx="15925815" cy="19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an automated Excel tool for DCP test report generation.</a:t>
            </a:r>
          </a:p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 Enhanced accuracy and efficiency, reducing management effort.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547267" y="1915539"/>
            <a:ext cx="1497705" cy="626376"/>
            <a:chOff x="0" y="0"/>
            <a:chExt cx="660290" cy="2761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631794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178322" y="1915539"/>
            <a:ext cx="1497705" cy="626376"/>
            <a:chOff x="0" y="0"/>
            <a:chExt cx="660290" cy="2761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262849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🎯PO5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761595" y="1915539"/>
            <a:ext cx="1497705" cy="626376"/>
            <a:chOff x="0" y="0"/>
            <a:chExt cx="660290" cy="2761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930649" y="1954408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🎯LO4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37562"/>
            <a:ext cx="5828726" cy="7020738"/>
          </a:xfrm>
          <a:custGeom>
            <a:avLst/>
            <a:gdLst/>
            <a:ahLst/>
            <a:cxnLst/>
            <a:rect l="l" t="t" r="r" b="b"/>
            <a:pathLst>
              <a:path w="5828726" h="7020738">
                <a:moveTo>
                  <a:pt x="0" y="0"/>
                </a:moveTo>
                <a:lnTo>
                  <a:pt x="5828726" y="0"/>
                </a:lnTo>
                <a:lnTo>
                  <a:pt x="5828726" y="7020738"/>
                </a:lnTo>
                <a:lnTo>
                  <a:pt x="0" y="7020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735" r="-248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216993" y="4955953"/>
            <a:ext cx="1927007" cy="1211605"/>
          </a:xfrm>
          <a:custGeom>
            <a:avLst/>
            <a:gdLst/>
            <a:ahLst/>
            <a:cxnLst/>
            <a:rect l="l" t="t" r="r" b="b"/>
            <a:pathLst>
              <a:path w="1927007" h="1211605">
                <a:moveTo>
                  <a:pt x="0" y="0"/>
                </a:moveTo>
                <a:lnTo>
                  <a:pt x="1927007" y="0"/>
                </a:lnTo>
                <a:lnTo>
                  <a:pt x="1927007" y="1211605"/>
                </a:lnTo>
                <a:lnTo>
                  <a:pt x="0" y="12116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05950" y="3264635"/>
            <a:ext cx="7548683" cy="4236698"/>
          </a:xfrm>
          <a:custGeom>
            <a:avLst/>
            <a:gdLst/>
            <a:ahLst/>
            <a:cxnLst/>
            <a:rect l="l" t="t" r="r" b="b"/>
            <a:pathLst>
              <a:path w="7548683" h="4236698">
                <a:moveTo>
                  <a:pt x="0" y="0"/>
                </a:moveTo>
                <a:lnTo>
                  <a:pt x="7548683" y="0"/>
                </a:lnTo>
                <a:lnTo>
                  <a:pt x="7548683" y="4236698"/>
                </a:lnTo>
                <a:lnTo>
                  <a:pt x="0" y="42366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498560"/>
            <a:ext cx="13234149" cy="148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0"/>
              </a:lnSpc>
            </a:pPr>
            <a:r>
              <a:rPr lang="en-US" sz="8000" b="1" spc="432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DCP test report generator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7610"/>
            <a:ext cx="15085178" cy="268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Health, Safety &amp; Environmental Practices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547267" y="1915539"/>
            <a:ext cx="1497705" cy="626376"/>
            <a:chOff x="0" y="0"/>
            <a:chExt cx="660290" cy="2761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452816" y="1947241"/>
            <a:ext cx="1497705" cy="626376"/>
            <a:chOff x="0" y="0"/>
            <a:chExt cx="660290" cy="2761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3678" y="3458295"/>
            <a:ext cx="9581029" cy="950447"/>
            <a:chOff x="0" y="0"/>
            <a:chExt cx="1845185" cy="183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5185" cy="183049"/>
            </a:xfrm>
            <a:custGeom>
              <a:avLst/>
              <a:gdLst/>
              <a:ahLst/>
              <a:cxnLst/>
              <a:rect l="l" t="t" r="r" b="b"/>
              <a:pathLst>
                <a:path w="1845185" h="183049">
                  <a:moveTo>
                    <a:pt x="1845185" y="46059"/>
                  </a:moveTo>
                  <a:lnTo>
                    <a:pt x="1845185" y="136991"/>
                  </a:lnTo>
                  <a:cubicBezTo>
                    <a:pt x="1845185" y="149206"/>
                    <a:pt x="1840332" y="160921"/>
                    <a:pt x="1831695" y="169559"/>
                  </a:cubicBezTo>
                  <a:cubicBezTo>
                    <a:pt x="1823057" y="178197"/>
                    <a:pt x="1811342" y="183049"/>
                    <a:pt x="1799126" y="183049"/>
                  </a:cubicBezTo>
                  <a:lnTo>
                    <a:pt x="46059" y="183049"/>
                  </a:lnTo>
                  <a:cubicBezTo>
                    <a:pt x="33843" y="183049"/>
                    <a:pt x="22128" y="178197"/>
                    <a:pt x="13490" y="169559"/>
                  </a:cubicBezTo>
                  <a:cubicBezTo>
                    <a:pt x="4853" y="160921"/>
                    <a:pt x="0" y="149206"/>
                    <a:pt x="0" y="136991"/>
                  </a:cubicBezTo>
                  <a:lnTo>
                    <a:pt x="0" y="46059"/>
                  </a:lnTo>
                  <a:cubicBezTo>
                    <a:pt x="0" y="33843"/>
                    <a:pt x="4853" y="22128"/>
                    <a:pt x="13490" y="13490"/>
                  </a:cubicBezTo>
                  <a:cubicBezTo>
                    <a:pt x="22128" y="4853"/>
                    <a:pt x="33843" y="0"/>
                    <a:pt x="46059" y="0"/>
                  </a:cubicBezTo>
                  <a:lnTo>
                    <a:pt x="1799126" y="0"/>
                  </a:lnTo>
                  <a:cubicBezTo>
                    <a:pt x="1811342" y="0"/>
                    <a:pt x="1823057" y="4853"/>
                    <a:pt x="1831695" y="13490"/>
                  </a:cubicBezTo>
                  <a:cubicBezTo>
                    <a:pt x="1840332" y="22128"/>
                    <a:pt x="1845185" y="33843"/>
                    <a:pt x="1845185" y="46059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845185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102062" y="4953721"/>
            <a:ext cx="4890409" cy="4304579"/>
          </a:xfrm>
          <a:custGeom>
            <a:avLst/>
            <a:gdLst/>
            <a:ahLst/>
            <a:cxnLst/>
            <a:rect l="l" t="t" r="r" b="b"/>
            <a:pathLst>
              <a:path w="4890409" h="4304579">
                <a:moveTo>
                  <a:pt x="0" y="0"/>
                </a:moveTo>
                <a:lnTo>
                  <a:pt x="4890409" y="0"/>
                </a:lnTo>
                <a:lnTo>
                  <a:pt x="4890409" y="4304579"/>
                </a:lnTo>
                <a:lnTo>
                  <a:pt x="0" y="4304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278983" y="5662625"/>
            <a:ext cx="5396886" cy="3595675"/>
          </a:xfrm>
          <a:custGeom>
            <a:avLst/>
            <a:gdLst/>
            <a:ahLst/>
            <a:cxnLst/>
            <a:rect l="l" t="t" r="r" b="b"/>
            <a:pathLst>
              <a:path w="5396886" h="3595675">
                <a:moveTo>
                  <a:pt x="0" y="0"/>
                </a:moveTo>
                <a:lnTo>
                  <a:pt x="5396886" y="0"/>
                </a:lnTo>
                <a:lnTo>
                  <a:pt x="5396886" y="3595675"/>
                </a:lnTo>
                <a:lnTo>
                  <a:pt x="0" y="3595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631794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21871" y="1986109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🎯LO3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17200" y="4374668"/>
            <a:ext cx="8120451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Testing, On site activities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380116"/>
            <a:ext cx="1117080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Followed proper safety protocols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7610"/>
            <a:ext cx="15085178" cy="268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Health, Safety &amp; Environmental Practices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58655" y="3751138"/>
            <a:ext cx="4397302" cy="950447"/>
            <a:chOff x="0" y="0"/>
            <a:chExt cx="846865" cy="183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6865" cy="183049"/>
            </a:xfrm>
            <a:custGeom>
              <a:avLst/>
              <a:gdLst/>
              <a:ahLst/>
              <a:cxnLst/>
              <a:rect l="l" t="t" r="r" b="b"/>
              <a:pathLst>
                <a:path w="846865" h="183049">
                  <a:moveTo>
                    <a:pt x="846865" y="91525"/>
                  </a:moveTo>
                  <a:lnTo>
                    <a:pt x="846865" y="91525"/>
                  </a:lnTo>
                  <a:cubicBezTo>
                    <a:pt x="846865" y="142072"/>
                    <a:pt x="805888" y="183049"/>
                    <a:pt x="755340" y="183049"/>
                  </a:cubicBezTo>
                  <a:lnTo>
                    <a:pt x="91525" y="183049"/>
                  </a:lnTo>
                  <a:cubicBezTo>
                    <a:pt x="40977" y="183049"/>
                    <a:pt x="0" y="142072"/>
                    <a:pt x="0" y="91525"/>
                  </a:cubicBezTo>
                  <a:lnTo>
                    <a:pt x="0" y="91525"/>
                  </a:lnTo>
                  <a:cubicBezTo>
                    <a:pt x="0" y="40977"/>
                    <a:pt x="40977" y="0"/>
                    <a:pt x="91525" y="0"/>
                  </a:cubicBezTo>
                  <a:lnTo>
                    <a:pt x="755340" y="0"/>
                  </a:lnTo>
                  <a:cubicBezTo>
                    <a:pt x="779614" y="0"/>
                    <a:pt x="802894" y="9643"/>
                    <a:pt x="820058" y="26807"/>
                  </a:cubicBezTo>
                  <a:cubicBezTo>
                    <a:pt x="837222" y="43971"/>
                    <a:pt x="846865" y="67251"/>
                    <a:pt x="846865" y="91525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846865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547267" y="3390397"/>
            <a:ext cx="4712033" cy="4557139"/>
          </a:xfrm>
          <a:custGeom>
            <a:avLst/>
            <a:gdLst/>
            <a:ahLst/>
            <a:cxnLst/>
            <a:rect l="l" t="t" r="r" b="b"/>
            <a:pathLst>
              <a:path w="4712033" h="4557139">
                <a:moveTo>
                  <a:pt x="0" y="0"/>
                </a:moveTo>
                <a:lnTo>
                  <a:pt x="4712033" y="0"/>
                </a:lnTo>
                <a:lnTo>
                  <a:pt x="4712033" y="4557139"/>
                </a:lnTo>
                <a:lnTo>
                  <a:pt x="0" y="4557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678" y="3769995"/>
            <a:ext cx="8479427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Crack survey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547267" y="1915539"/>
            <a:ext cx="1497705" cy="626376"/>
            <a:chOff x="0" y="0"/>
            <a:chExt cx="660290" cy="2761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52816" y="1947241"/>
            <a:ext cx="1497705" cy="626376"/>
            <a:chOff x="0" y="0"/>
            <a:chExt cx="660290" cy="2761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31794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21871" y="1986109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🎯LO3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58655" y="5556645"/>
            <a:ext cx="10684478" cy="950447"/>
            <a:chOff x="0" y="0"/>
            <a:chExt cx="1986335" cy="1830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86335" cy="183049"/>
            </a:xfrm>
            <a:custGeom>
              <a:avLst/>
              <a:gdLst/>
              <a:ahLst/>
              <a:cxnLst/>
              <a:rect l="l" t="t" r="r" b="b"/>
              <a:pathLst>
                <a:path w="1986335" h="183049">
                  <a:moveTo>
                    <a:pt x="1986335" y="42786"/>
                  </a:moveTo>
                  <a:lnTo>
                    <a:pt x="1986335" y="140264"/>
                  </a:lnTo>
                  <a:cubicBezTo>
                    <a:pt x="1986335" y="151611"/>
                    <a:pt x="1981827" y="162494"/>
                    <a:pt x="1973804" y="170518"/>
                  </a:cubicBezTo>
                  <a:cubicBezTo>
                    <a:pt x="1965780" y="178542"/>
                    <a:pt x="1954897" y="183049"/>
                    <a:pt x="1943549" y="183049"/>
                  </a:cubicBezTo>
                  <a:lnTo>
                    <a:pt x="42786" y="183049"/>
                  </a:lnTo>
                  <a:cubicBezTo>
                    <a:pt x="31438" y="183049"/>
                    <a:pt x="20556" y="178542"/>
                    <a:pt x="12532" y="170518"/>
                  </a:cubicBezTo>
                  <a:cubicBezTo>
                    <a:pt x="4508" y="162494"/>
                    <a:pt x="0" y="151611"/>
                    <a:pt x="0" y="140264"/>
                  </a:cubicBezTo>
                  <a:lnTo>
                    <a:pt x="0" y="42786"/>
                  </a:lnTo>
                  <a:cubicBezTo>
                    <a:pt x="0" y="31438"/>
                    <a:pt x="4508" y="20556"/>
                    <a:pt x="12532" y="12532"/>
                  </a:cubicBezTo>
                  <a:cubicBezTo>
                    <a:pt x="20556" y="4508"/>
                    <a:pt x="31438" y="0"/>
                    <a:pt x="42786" y="0"/>
                  </a:cubicBezTo>
                  <a:lnTo>
                    <a:pt x="1943549" y="0"/>
                  </a:lnTo>
                  <a:cubicBezTo>
                    <a:pt x="1954897" y="0"/>
                    <a:pt x="1965780" y="4508"/>
                    <a:pt x="1973804" y="12532"/>
                  </a:cubicBezTo>
                  <a:cubicBezTo>
                    <a:pt x="1981827" y="20556"/>
                    <a:pt x="1986335" y="31438"/>
                    <a:pt x="1986335" y="42786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986335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43677" y="5650223"/>
            <a:ext cx="11203589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parameter monitoring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32178" y="6583293"/>
            <a:ext cx="10110955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CO2 , NO2 , Weather condition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7610"/>
            <a:ext cx="15085178" cy="268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Health, Safety &amp; Environmental Practices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547267" y="1915539"/>
            <a:ext cx="1497705" cy="626376"/>
            <a:chOff x="0" y="0"/>
            <a:chExt cx="660290" cy="2761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452816" y="1947241"/>
            <a:ext cx="1497705" cy="626376"/>
            <a:chOff x="0" y="0"/>
            <a:chExt cx="660290" cy="2761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3678" y="3766777"/>
            <a:ext cx="11203589" cy="950447"/>
            <a:chOff x="0" y="0"/>
            <a:chExt cx="2157669" cy="183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7669" cy="183049"/>
            </a:xfrm>
            <a:custGeom>
              <a:avLst/>
              <a:gdLst/>
              <a:ahLst/>
              <a:cxnLst/>
              <a:rect l="l" t="t" r="r" b="b"/>
              <a:pathLst>
                <a:path w="2157669" h="183049">
                  <a:moveTo>
                    <a:pt x="2157669" y="39388"/>
                  </a:moveTo>
                  <a:lnTo>
                    <a:pt x="2157669" y="143661"/>
                  </a:lnTo>
                  <a:cubicBezTo>
                    <a:pt x="2157669" y="154108"/>
                    <a:pt x="2153520" y="164126"/>
                    <a:pt x="2146133" y="171513"/>
                  </a:cubicBezTo>
                  <a:cubicBezTo>
                    <a:pt x="2138746" y="178900"/>
                    <a:pt x="2128728" y="183049"/>
                    <a:pt x="2118281" y="183049"/>
                  </a:cubicBezTo>
                  <a:lnTo>
                    <a:pt x="39388" y="183049"/>
                  </a:lnTo>
                  <a:cubicBezTo>
                    <a:pt x="28942" y="183049"/>
                    <a:pt x="18923" y="178900"/>
                    <a:pt x="11537" y="171513"/>
                  </a:cubicBezTo>
                  <a:cubicBezTo>
                    <a:pt x="4150" y="164126"/>
                    <a:pt x="0" y="154108"/>
                    <a:pt x="0" y="143661"/>
                  </a:cubicBezTo>
                  <a:lnTo>
                    <a:pt x="0" y="39388"/>
                  </a:lnTo>
                  <a:cubicBezTo>
                    <a:pt x="0" y="28942"/>
                    <a:pt x="4150" y="18923"/>
                    <a:pt x="11537" y="11537"/>
                  </a:cubicBezTo>
                  <a:cubicBezTo>
                    <a:pt x="18923" y="4150"/>
                    <a:pt x="28942" y="0"/>
                    <a:pt x="39388" y="0"/>
                  </a:cubicBezTo>
                  <a:lnTo>
                    <a:pt x="2118281" y="0"/>
                  </a:lnTo>
                  <a:cubicBezTo>
                    <a:pt x="2140035" y="0"/>
                    <a:pt x="2157669" y="17635"/>
                    <a:pt x="2157669" y="39388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157669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513915" y="5083462"/>
            <a:ext cx="8156290" cy="4174838"/>
          </a:xfrm>
          <a:custGeom>
            <a:avLst/>
            <a:gdLst/>
            <a:ahLst/>
            <a:cxnLst/>
            <a:rect l="l" t="t" r="r" b="b"/>
            <a:pathLst>
              <a:path w="8156290" h="4174838">
                <a:moveTo>
                  <a:pt x="0" y="0"/>
                </a:moveTo>
                <a:lnTo>
                  <a:pt x="8156291" y="0"/>
                </a:lnTo>
                <a:lnTo>
                  <a:pt x="8156291" y="4174838"/>
                </a:lnTo>
                <a:lnTo>
                  <a:pt x="0" y="417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631794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21871" y="1986109"/>
            <a:ext cx="115959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🎯LO3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688598"/>
            <a:ext cx="11603094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Daily Toolbox Meeting / Safety Briefing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17610"/>
            <a:ext cx="15085178" cy="14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Ethics &amp; Life-long Learning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540009"/>
            <a:ext cx="12970322" cy="950447"/>
            <a:chOff x="0" y="0"/>
            <a:chExt cx="2497920" cy="183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7920" cy="183049"/>
            </a:xfrm>
            <a:custGeom>
              <a:avLst/>
              <a:gdLst/>
              <a:ahLst/>
              <a:cxnLst/>
              <a:rect l="l" t="t" r="r" b="b"/>
              <a:pathLst>
                <a:path w="2497920" h="183049">
                  <a:moveTo>
                    <a:pt x="2497920" y="34023"/>
                  </a:moveTo>
                  <a:lnTo>
                    <a:pt x="2497920" y="149026"/>
                  </a:lnTo>
                  <a:cubicBezTo>
                    <a:pt x="2497920" y="167817"/>
                    <a:pt x="2482687" y="183049"/>
                    <a:pt x="2463897" y="183049"/>
                  </a:cubicBezTo>
                  <a:lnTo>
                    <a:pt x="34023" y="183049"/>
                  </a:lnTo>
                  <a:cubicBezTo>
                    <a:pt x="15233" y="183049"/>
                    <a:pt x="0" y="167817"/>
                    <a:pt x="0" y="149026"/>
                  </a:cubicBezTo>
                  <a:lnTo>
                    <a:pt x="0" y="34023"/>
                  </a:lnTo>
                  <a:cubicBezTo>
                    <a:pt x="0" y="15233"/>
                    <a:pt x="15233" y="0"/>
                    <a:pt x="34023" y="0"/>
                  </a:cubicBezTo>
                  <a:lnTo>
                    <a:pt x="2463897" y="0"/>
                  </a:lnTo>
                  <a:cubicBezTo>
                    <a:pt x="2482687" y="0"/>
                    <a:pt x="2497920" y="15233"/>
                    <a:pt x="2497920" y="34023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497920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4554" y="3372144"/>
            <a:ext cx="12704468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Practiced professional ethics in reporting accurate test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490582"/>
            <a:ext cx="12970322" cy="950447"/>
            <a:chOff x="0" y="0"/>
            <a:chExt cx="2497920" cy="1830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97920" cy="183049"/>
            </a:xfrm>
            <a:custGeom>
              <a:avLst/>
              <a:gdLst/>
              <a:ahLst/>
              <a:cxnLst/>
              <a:rect l="l" t="t" r="r" b="b"/>
              <a:pathLst>
                <a:path w="2497920" h="183049">
                  <a:moveTo>
                    <a:pt x="2497920" y="34023"/>
                  </a:moveTo>
                  <a:lnTo>
                    <a:pt x="2497920" y="149026"/>
                  </a:lnTo>
                  <a:cubicBezTo>
                    <a:pt x="2497920" y="167817"/>
                    <a:pt x="2482687" y="183049"/>
                    <a:pt x="2463897" y="183049"/>
                  </a:cubicBezTo>
                  <a:lnTo>
                    <a:pt x="34023" y="183049"/>
                  </a:lnTo>
                  <a:cubicBezTo>
                    <a:pt x="15233" y="183049"/>
                    <a:pt x="0" y="167817"/>
                    <a:pt x="0" y="149026"/>
                  </a:cubicBezTo>
                  <a:lnTo>
                    <a:pt x="0" y="34023"/>
                  </a:lnTo>
                  <a:cubicBezTo>
                    <a:pt x="0" y="15233"/>
                    <a:pt x="15233" y="0"/>
                    <a:pt x="34023" y="0"/>
                  </a:cubicBezTo>
                  <a:lnTo>
                    <a:pt x="2463897" y="0"/>
                  </a:lnTo>
                  <a:cubicBezTo>
                    <a:pt x="2482687" y="0"/>
                    <a:pt x="2497920" y="15233"/>
                    <a:pt x="2497920" y="34023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497920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94554" y="5306358"/>
            <a:ext cx="10219541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to unfamiliar tools and tasks quickly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547267" y="1915539"/>
            <a:ext cx="1497705" cy="626376"/>
            <a:chOff x="0" y="0"/>
            <a:chExt cx="660290" cy="2761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631794" y="1986109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🎯PO8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452816" y="1947241"/>
            <a:ext cx="1497705" cy="626376"/>
            <a:chOff x="0" y="0"/>
            <a:chExt cx="660290" cy="2761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290" cy="276157"/>
            </a:xfrm>
            <a:custGeom>
              <a:avLst/>
              <a:gdLst/>
              <a:ahLst/>
              <a:cxnLst/>
              <a:rect l="l" t="t" r="r" b="b"/>
              <a:pathLst>
                <a:path w="660290" h="276157">
                  <a:moveTo>
                    <a:pt x="660290" y="138079"/>
                  </a:moveTo>
                  <a:lnTo>
                    <a:pt x="660290" y="138079"/>
                  </a:lnTo>
                  <a:cubicBezTo>
                    <a:pt x="660290" y="174699"/>
                    <a:pt x="645743" y="209820"/>
                    <a:pt x="619848" y="235715"/>
                  </a:cubicBezTo>
                  <a:cubicBezTo>
                    <a:pt x="593953" y="261610"/>
                    <a:pt x="558832" y="276157"/>
                    <a:pt x="522212" y="276157"/>
                  </a:cubicBezTo>
                  <a:lnTo>
                    <a:pt x="138079" y="276157"/>
                  </a:lnTo>
                  <a:cubicBezTo>
                    <a:pt x="101458" y="276157"/>
                    <a:pt x="66337" y="261610"/>
                    <a:pt x="40442" y="235715"/>
                  </a:cubicBezTo>
                  <a:cubicBezTo>
                    <a:pt x="14548" y="209820"/>
                    <a:pt x="0" y="174699"/>
                    <a:pt x="0" y="138079"/>
                  </a:cubicBezTo>
                  <a:lnTo>
                    <a:pt x="0" y="138079"/>
                  </a:lnTo>
                  <a:cubicBezTo>
                    <a:pt x="0" y="101458"/>
                    <a:pt x="14548" y="66337"/>
                    <a:pt x="40442" y="40442"/>
                  </a:cubicBezTo>
                  <a:cubicBezTo>
                    <a:pt x="66337" y="14548"/>
                    <a:pt x="101458" y="0"/>
                    <a:pt x="138079" y="0"/>
                  </a:cubicBezTo>
                  <a:lnTo>
                    <a:pt x="522212" y="0"/>
                  </a:lnTo>
                  <a:cubicBezTo>
                    <a:pt x="558832" y="0"/>
                    <a:pt x="593953" y="14548"/>
                    <a:pt x="619848" y="40442"/>
                  </a:cubicBezTo>
                  <a:cubicBezTo>
                    <a:pt x="645743" y="66337"/>
                    <a:pt x="660290" y="101458"/>
                    <a:pt x="660290" y="138079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60290" cy="257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568472" y="2009456"/>
            <a:ext cx="1328651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🎯PO12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28700" y="7441154"/>
            <a:ext cx="12970322" cy="950447"/>
            <a:chOff x="0" y="0"/>
            <a:chExt cx="2497920" cy="1830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97920" cy="183049"/>
            </a:xfrm>
            <a:custGeom>
              <a:avLst/>
              <a:gdLst/>
              <a:ahLst/>
              <a:cxnLst/>
              <a:rect l="l" t="t" r="r" b="b"/>
              <a:pathLst>
                <a:path w="2497920" h="183049">
                  <a:moveTo>
                    <a:pt x="2497920" y="34023"/>
                  </a:moveTo>
                  <a:lnTo>
                    <a:pt x="2497920" y="149026"/>
                  </a:lnTo>
                  <a:cubicBezTo>
                    <a:pt x="2497920" y="167817"/>
                    <a:pt x="2482687" y="183049"/>
                    <a:pt x="2463897" y="183049"/>
                  </a:cubicBezTo>
                  <a:lnTo>
                    <a:pt x="34023" y="183049"/>
                  </a:lnTo>
                  <a:cubicBezTo>
                    <a:pt x="15233" y="183049"/>
                    <a:pt x="0" y="167817"/>
                    <a:pt x="0" y="149026"/>
                  </a:cubicBezTo>
                  <a:lnTo>
                    <a:pt x="0" y="34023"/>
                  </a:lnTo>
                  <a:cubicBezTo>
                    <a:pt x="0" y="15233"/>
                    <a:pt x="15233" y="0"/>
                    <a:pt x="34023" y="0"/>
                  </a:cubicBezTo>
                  <a:lnTo>
                    <a:pt x="2463897" y="0"/>
                  </a:lnTo>
                  <a:cubicBezTo>
                    <a:pt x="2482687" y="0"/>
                    <a:pt x="2497920" y="15233"/>
                    <a:pt x="2497920" y="34023"/>
                  </a:cubicBezTo>
                  <a:close/>
                </a:path>
              </a:pathLst>
            </a:custGeom>
            <a:gradFill rotWithShape="1">
              <a:gsLst>
                <a:gs pos="0">
                  <a:srgbClr val="E9F0F3">
                    <a:alpha val="100000"/>
                  </a:srgbClr>
                </a:gs>
                <a:gs pos="100000">
                  <a:srgbClr val="A2A5A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2497920" cy="163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94554" y="7236135"/>
            <a:ext cx="10219541" cy="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beyond university curriculum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2503"/>
            <a:ext cx="5400217" cy="14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0504" y="1684230"/>
            <a:ext cx="6087099" cy="878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Outcomes (POs) Achieved: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PO1: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 knowledge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PO2: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analysis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PO3: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Design/development of solutions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PO4: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Investigation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PO5: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Modern tool usage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PO6: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and society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PO7: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and sustainability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PO8: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Ethics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PO9: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and teamwork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PO10: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Communication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PO11: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management and finance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PO12: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Life-long learning</a:t>
            </a:r>
          </a:p>
          <a:p>
            <a:pPr algn="l">
              <a:lnSpc>
                <a:spcPts val="4999"/>
              </a:lnSpc>
            </a:pPr>
            <a:endParaRPr lang="en-US" sz="2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427603" y="1684230"/>
            <a:ext cx="9831697" cy="627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 (LOs) Achieved: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LO1: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Applied fundamentals of materials science and technology to industrial processes.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LO2: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efficiency and suitability of industrial management practices.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LO3: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and implemented effective Health, Safety, and Environmental (HSE) practices.</a:t>
            </a:r>
          </a:p>
          <a:p>
            <a:pPr marL="539749" lvl="1" indent="-269875" algn="l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LO4: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Gained thorough understanding of various managerial practices within the organization.</a:t>
            </a:r>
          </a:p>
          <a:p>
            <a:pPr algn="l">
              <a:lnSpc>
                <a:spcPts val="4999"/>
              </a:lnSpc>
            </a:pPr>
            <a:endParaRPr lang="en-US" sz="2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1050"/>
            <a:ext cx="8672163" cy="14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4"/>
              </a:lnSpc>
            </a:pPr>
            <a:r>
              <a:rPr lang="en-US" sz="7600" b="1" spc="410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Acknowledgment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84400"/>
            <a:ext cx="16230600" cy="707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express my sincere gratitude to: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Supervisors and Engineers from Consulting Engineering &amp; Contractors (Pvt) Ltd.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Road Development Authority (RDA) and Euro Group Consultants for continuous guidance.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staff from the Department of Materials Science and Engineering for their invaluable support.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Laboratory and technical staff for assistance during practical testing and site activities.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74696" y="9410555"/>
            <a:ext cx="118460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cherus Grotesque Bold"/>
                <a:ea typeface="Acherus Grotesque Bold"/>
                <a:cs typeface="Acherus Grotesque Bold"/>
                <a:sym typeface="Acherus Grotesque Bold"/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5F5">
                <a:alpha val="100000"/>
              </a:srgbClr>
            </a:gs>
            <a:gs pos="66667">
              <a:srgbClr val="EAEAEA">
                <a:alpha val="100000"/>
              </a:srgbClr>
            </a:gs>
            <a:gs pos="100000">
              <a:srgbClr val="DEDED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3049" y="3641239"/>
            <a:ext cx="9461903" cy="2556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3"/>
              </a:lnSpc>
            </a:pPr>
            <a:r>
              <a:rPr lang="en-US" sz="13853" b="1" spc="748">
                <a:solidFill>
                  <a:srgbClr val="000000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1281</Words>
  <Application>Microsoft Office PowerPoint</Application>
  <PresentationFormat>Custom</PresentationFormat>
  <Paragraphs>281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5" baseType="lpstr">
      <vt:lpstr>Acherus Grotesque Bold</vt:lpstr>
      <vt:lpstr>Code Pro</vt:lpstr>
      <vt:lpstr>Open Sauce SemiBold</vt:lpstr>
      <vt:lpstr>Acherus Grotesque</vt:lpstr>
      <vt:lpstr>Anonymous Pro</vt:lpstr>
      <vt:lpstr>Clear Sans Bold</vt:lpstr>
      <vt:lpstr>Times New Roman Bold</vt:lpstr>
      <vt:lpstr>Montserrat Semi-Bold</vt:lpstr>
      <vt:lpstr>Times New Roman Ultra-Bold</vt:lpstr>
      <vt:lpstr>Aptos</vt:lpstr>
      <vt:lpstr>Nunito Bold</vt:lpstr>
      <vt:lpstr>AstoriaBold</vt:lpstr>
      <vt:lpstr>Helveticish</vt:lpstr>
      <vt:lpstr>Times New Roman</vt:lpstr>
      <vt:lpstr>Calibri</vt:lpstr>
      <vt:lpstr>Arial</vt:lpstr>
      <vt:lpstr>Arial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Presentation 210494D</dc:title>
  <cp:lastModifiedBy>H.P.Sandun Premakumara</cp:lastModifiedBy>
  <cp:revision>5</cp:revision>
  <dcterms:created xsi:type="dcterms:W3CDTF">2006-08-16T00:00:00Z</dcterms:created>
  <dcterms:modified xsi:type="dcterms:W3CDTF">2025-07-31T10:48:20Z</dcterms:modified>
  <dc:identifier>DAGulDfesC0</dc:identifier>
</cp:coreProperties>
</file>